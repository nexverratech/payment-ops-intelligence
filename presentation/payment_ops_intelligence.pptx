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5B6B70"/>
                </a:solidFill>
                <a:latin typeface="Calibri"/>
              </a:rPr>
              <a:t>Failure rate, before vs during</a:t>
            </a:r>
          </a:p>
        </c:rich>
      </c:tx>
      <c:layout/>
      <c:overlay val="0"/>
    </c:title>
    <c:autoTitleDeleted val="0"/>
    <c:plotArea>
      <c:barChart>
        <c:barDir val="col"/>
        <c:grouping val="clustered"/>
        <c:ser>
          <c:idx val="0"/>
          <c:order val="0"/>
          <c:tx>
            <c:strRef>
              <c:f>Sheet1!$B$1</c:f>
              <c:strCache>
                <c:ptCount val="1"/>
                <c:pt idx="0">
                  <c:v>Before</c:v>
                </c:pt>
              </c:strCache>
            </c:strRef>
          </c:tx>
          <c:spPr>
            <a:solidFill>
              <a:srgbClr val="C9D5D8"/>
            </a:solidFill>
          </c:spPr>
          <c:cat>
            <c:strRef>
              <c:f>Sheet1!$A$2:$A$3</c:f>
              <c:strCache>
                <c:ptCount val="2"/>
                <c:pt idx="0">
                  <c:v>All providers, week</c:v>
                </c:pt>
                <c:pt idx="1">
                  <c:v>KESTREL, anomaly window</c:v>
                </c:pt>
              </c:strCache>
            </c:strRef>
          </c:cat>
          <c:val>
            <c:numRef>
              <c:f>Sheet1!$B$2:$B$3</c:f>
              <c:numCache>
                <c:formatCode>General</c:formatCode>
                <c:ptCount val="2"/>
                <c:pt idx="0">
                  <c:v>2.88</c:v>
                </c:pt>
                <c:pt idx="1">
                  <c:v>2.73</c:v>
                </c:pt>
              </c:numCache>
            </c:numRef>
          </c:val>
        </c:ser>
        <c:ser>
          <c:idx val="1"/>
          <c:order val="1"/>
          <c:tx>
            <c:strRef>
              <c:f>Sheet1!$C$1</c:f>
              <c:strCache>
                <c:ptCount val="1"/>
                <c:pt idx="0">
                  <c:v>During</c:v>
                </c:pt>
              </c:strCache>
            </c:strRef>
          </c:tx>
          <c:spPr>
            <a:solidFill>
              <a:srgbClr val="EB6834"/>
            </a:solidFill>
          </c:spPr>
          <c:cat>
            <c:strRef>
              <c:f>Sheet1!$A$2:$A$3</c:f>
              <c:strCache>
                <c:ptCount val="2"/>
                <c:pt idx="0">
                  <c:v>All providers, week</c:v>
                </c:pt>
                <c:pt idx="1">
                  <c:v>KESTREL, anomaly window</c:v>
                </c:pt>
              </c:strCache>
            </c:strRef>
          </c:cat>
          <c:val>
            <c:numRef>
              <c:f>Sheet1!$C$2:$C$3</c:f>
              <c:numCache>
                <c:formatCode>General</c:formatCode>
                <c:ptCount val="2"/>
                <c:pt idx="0">
                  <c:v>3.85</c:v>
                </c:pt>
                <c:pt idx="1">
                  <c:v>23.07</c:v>
                </c:pt>
              </c:numCache>
            </c:numRef>
          </c:val>
        </c:ser>
        <c:dLbls>
          <c:numFmt formatCode="0.00&quot;%&quot;" sourceLinked="0"/>
          <c:txPr>
            <a:bodyPr/>
            <a:lstStyle/>
            <a:p>
              <a:pPr>
                <a:defRPr sz="1200">
                  <a:solidFill>
                    <a:srgbClr val="1C2B3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C9D5D8"/>
            </a:solidFill>
          </a:ln>
        </c:spPr>
        <c:txPr>
          <a:bodyPr/>
          <a:lstStyle/>
          <a:p>
            <a:pPr>
              <a:defRPr sz="1200">
                <a:solidFill>
                  <a:srgbClr val="1C2B30"/>
                </a:solidFill>
              </a:defRPr>
            </a:pPr>
          </a:p>
        </c:txPr>
        <c:crossAx val="-2113994440"/>
        <c:crosses val="autoZero"/>
        <c:auto val="1"/>
        <c:lblAlgn val="ctr"/>
        <c:lblOffset val="100"/>
        <c:noMultiLvlLbl val="0"/>
      </c:catAx>
      <c:valAx>
        <c:axId val="-2113994440"/>
        <c:scaling/>
        <c:delete val="0"/>
        <c:axPos val="l"/>
        <c:majorGridlines>
          <c:spPr>
            <a:ln>
              <a:solidFill>
                <a:srgbClr val="C9D5D8"/>
              </a:solidFill>
            </a:ln>
          </c:spPr>
        </c:majorGridlines>
        <c:numFmt formatCode="0&quot;%&quot;" sourceLinked="0"/>
        <c:majorTickMark val="out"/>
        <c:minorTickMark val="none"/>
        <c:tickLblPos val="nextTo"/>
        <c:spPr>
          <a:ln>
            <a:noFill/>
          </a:ln>
        </c:spPr>
        <c:txPr>
          <a:bodyPr/>
          <a:lstStyle/>
          <a:p>
            <a:pPr>
              <a:defRPr sz="1100">
                <a:solidFill>
                  <a:srgbClr val="5B6B70"/>
                </a:solidFill>
              </a:defRPr>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1C2B3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5B6B70"/>
                </a:solidFill>
                <a:latin typeface="Calibri"/>
              </a:rPr>
              <a:t>qwen3:4b on 10 questions (%)</a:t>
            </a:r>
          </a:p>
        </c:rich>
      </c:tx>
      <c:layout/>
      <c:overlay val="0"/>
    </c:title>
    <c:autoTitleDeleted val="0"/>
    <c:plotArea>
      <c:barChart>
        <c:barDir val="col"/>
        <c:grouping val="clustered"/>
        <c:ser>
          <c:idx val="0"/>
          <c:order val="0"/>
          <c:tx>
            <c:strRef>
              <c:f>Sheet1!$B$1</c:f>
              <c:strCache>
                <c:ptCount val="1"/>
                <c:pt idx="0">
                  <c:v>Run 1</c:v>
                </c:pt>
              </c:strCache>
            </c:strRef>
          </c:tx>
          <c:spPr>
            <a:solidFill>
              <a:srgbClr val="C9D5D8"/>
            </a:solidFill>
          </c:spPr>
          <c:cat>
            <c:strRef>
              <c:f>Sheet1!$A$2:$A$4</c:f>
              <c:strCache>
                <c:ptCount val="3"/>
                <c:pt idx="0">
                  <c:v>Plan correct</c:v>
                </c:pt>
                <c:pt idx="1">
                  <c:v>LLM report used</c:v>
                </c:pt>
                <c:pt idx="2">
                  <c:v>Sentences kept</c:v>
                </c:pt>
              </c:strCache>
            </c:strRef>
          </c:cat>
          <c:val>
            <c:numRef>
              <c:f>Sheet1!$B$2:$B$4</c:f>
              <c:numCache>
                <c:formatCode>General</c:formatCode>
                <c:ptCount val="3"/>
                <c:pt idx="0">
                  <c:v>90.0</c:v>
                </c:pt>
                <c:pt idx="1">
                  <c:v>90.0</c:v>
                </c:pt>
                <c:pt idx="2">
                  <c:v>92.9</c:v>
                </c:pt>
              </c:numCache>
            </c:numRef>
          </c:val>
        </c:ser>
        <c:ser>
          <c:idx val="1"/>
          <c:order val="1"/>
          <c:tx>
            <c:strRef>
              <c:f>Sheet1!$C$1</c:f>
              <c:strCache>
                <c:ptCount val="1"/>
                <c:pt idx="0">
                  <c:v>Run 2 (after prompt fix)</c:v>
                </c:pt>
              </c:strCache>
            </c:strRef>
          </c:tx>
          <c:spPr>
            <a:solidFill>
              <a:srgbClr val="0F2E35"/>
            </a:solidFill>
          </c:spPr>
          <c:cat>
            <c:strRef>
              <c:f>Sheet1!$A$2:$A$4</c:f>
              <c:strCache>
                <c:ptCount val="3"/>
                <c:pt idx="0">
                  <c:v>Plan correct</c:v>
                </c:pt>
                <c:pt idx="1">
                  <c:v>LLM report used</c:v>
                </c:pt>
                <c:pt idx="2">
                  <c:v>Sentences kept</c:v>
                </c:pt>
              </c:strCache>
            </c:strRef>
          </c:cat>
          <c:val>
            <c:numRef>
              <c:f>Sheet1!$C$2:$C$4</c:f>
              <c:numCache>
                <c:formatCode>General</c:formatCode>
                <c:ptCount val="3"/>
                <c:pt idx="0">
                  <c:v>100.0</c:v>
                </c:pt>
                <c:pt idx="1">
                  <c:v>100.0</c:v>
                </c:pt>
                <c:pt idx="2">
                  <c:v>93.8</c:v>
                </c:pt>
              </c:numCache>
            </c:numRef>
          </c:val>
        </c:ser>
        <c:dLbls>
          <c:numFmt formatCode="0.0&quot;%&quot;" sourceLinked="0"/>
          <c:txPr>
            <a:bodyPr/>
            <a:lstStyle/>
            <a:p>
              <a:pPr>
                <a:defRPr sz="1200">
                  <a:solidFill>
                    <a:srgbClr val="1C2B30"/>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C9D5D8"/>
            </a:solidFill>
          </a:ln>
        </c:spPr>
        <c:txPr>
          <a:bodyPr/>
          <a:lstStyle/>
          <a:p>
            <a:pPr>
              <a:defRPr sz="1200">
                <a:solidFill>
                  <a:srgbClr val="1C2B30"/>
                </a:solidFill>
              </a:defRPr>
            </a:pPr>
          </a:p>
        </c:txPr>
        <c:crossAx val="-2113994440"/>
        <c:crosses val="autoZero"/>
        <c:auto val="1"/>
        <c:lblAlgn val="ctr"/>
        <c:lblOffset val="100"/>
        <c:noMultiLvlLbl val="0"/>
      </c:catAx>
      <c:valAx>
        <c:axId val="-2113994440"/>
        <c:scaling>
          <c:max val="110.0"/>
          <c:min val="0.0"/>
        </c:scaling>
        <c:delete val="0"/>
        <c:axPos val="l"/>
        <c:majorGridlines>
          <c:spPr>
            <a:ln>
              <a:solidFill>
                <a:srgbClr val="C9D5D8"/>
              </a:solidFill>
            </a:ln>
          </c:spPr>
        </c:majorGridlines>
        <c:numFmt formatCode="0&quot;%&quot;" sourceLinked="0"/>
        <c:majorTickMark val="out"/>
        <c:minorTickMark val="none"/>
        <c:tickLblPos val="nextTo"/>
        <c:spPr>
          <a:ln>
            <a:noFill/>
          </a:ln>
        </c:spPr>
        <c:txPr>
          <a:bodyPr/>
          <a:lstStyle/>
          <a:p>
            <a:pPr>
              <a:defRPr sz="1100">
                <a:solidFill>
                  <a:srgbClr val="5B6B70"/>
                </a:solidFill>
              </a:defRPr>
            </a:pPr>
          </a:p>
        </c:txPr>
        <c:crossAx val="-2068027336"/>
        <c:crosses val="autoZero"/>
        <c:majorUnit val="25.0"/>
      </c:valAx>
    </c:plotArea>
    <c:legend>
      <c:legendPos val="b"/>
      <c:overlay val="0"/>
      <c:txPr>
        <a:bodyPr/>
        <a:lstStyle/>
        <a:p>
          <a:pPr>
            <a:defRPr sz="1200"/>
          </a:pPr>
        </a:p>
      </c:txPr>
    </c:legend>
    <c:dispBlanksAs val="gap"/>
  </c:chart>
  <c:txPr>
    <a:bodyPr/>
    <a:lstStyle/>
    <a:p>
      <a:pPr>
        <a:defRPr sz="1200">
          <a:solidFill>
            <a:srgbClr val="1C2B3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5B6B70"/>
                </a:solidFill>
                <a:latin typeface="Calibri"/>
              </a:rPr>
              <a:t>Tests passing on the development laptop, by phase</a:t>
            </a:r>
          </a:p>
        </c:rich>
      </c:tx>
      <c:layout/>
      <c:overlay val="0"/>
    </c:title>
    <c:autoTitleDeleted val="0"/>
    <c:plotArea>
      <c:barChart>
        <c:barDir val="col"/>
        <c:grouping val="clustered"/>
        <c:ser>
          <c:idx val="0"/>
          <c:order val="0"/>
          <c:tx>
            <c:strRef>
              <c:f>Sheet1!$B$1</c:f>
              <c:strCache>
                <c:ptCount val="1"/>
                <c:pt idx="0">
                  <c:v>Tests passing</c:v>
                </c:pt>
              </c:strCache>
            </c:strRef>
          </c:tx>
          <c:spPr>
            <a:solidFill>
              <a:srgbClr val="0F2E35"/>
            </a:solidFill>
          </c:spPr>
          <c:cat>
            <c:strRef>
              <c:f>Sheet1!$A$2:$A$10</c:f>
              <c:strCache>
                <c:ptCount val="9"/>
                <c:pt idx="0">
                  <c:v>P1</c:v>
                </c:pt>
                <c:pt idx="1">
                  <c:v>P2</c:v>
                </c:pt>
                <c:pt idx="2">
                  <c:v>P3</c:v>
                </c:pt>
                <c:pt idx="3">
                  <c:v>P4</c:v>
                </c:pt>
                <c:pt idx="4">
                  <c:v>P5a</c:v>
                </c:pt>
                <c:pt idx="5">
                  <c:v>P5b</c:v>
                </c:pt>
                <c:pt idx="6">
                  <c:v>P6</c:v>
                </c:pt>
                <c:pt idx="7">
                  <c:v>P7</c:v>
                </c:pt>
                <c:pt idx="8">
                  <c:v>P8</c:v>
                </c:pt>
              </c:strCache>
            </c:strRef>
          </c:cat>
          <c:val>
            <c:numRef>
              <c:f>Sheet1!$B$2:$B$10</c:f>
              <c:numCache>
                <c:formatCode>General</c:formatCode>
                <c:ptCount val="9"/>
                <c:pt idx="0">
                  <c:v>37</c:v>
                </c:pt>
                <c:pt idx="1">
                  <c:v>69</c:v>
                </c:pt>
                <c:pt idx="2">
                  <c:v>126</c:v>
                </c:pt>
                <c:pt idx="3">
                  <c:v>172</c:v>
                </c:pt>
                <c:pt idx="4">
                  <c:v>206</c:v>
                </c:pt>
                <c:pt idx="5">
                  <c:v>267</c:v>
                </c:pt>
                <c:pt idx="6">
                  <c:v>323</c:v>
                </c:pt>
                <c:pt idx="7">
                  <c:v>411</c:v>
                </c:pt>
                <c:pt idx="8">
                  <c:v>435</c:v>
                </c:pt>
              </c:numCache>
            </c:numRef>
          </c:val>
        </c:ser>
        <c:dLbls>
          <c:numFmt formatCode="0" sourceLinked="0"/>
          <c:txPr>
            <a:bodyPr/>
            <a:lstStyle/>
            <a:p>
              <a:pPr>
                <a:defRPr sz="1200">
                  <a:solidFill>
                    <a:srgbClr val="1C2B30"/>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9D5D8"/>
            </a:solidFill>
          </a:ln>
        </c:spPr>
        <c:txPr>
          <a:bodyPr/>
          <a:lstStyle/>
          <a:p>
            <a:pPr>
              <a:defRPr sz="1200">
                <a:solidFill>
                  <a:srgbClr val="1C2B30"/>
                </a:solidFill>
              </a:defRPr>
            </a:pPr>
          </a:p>
        </c:txPr>
        <c:crossAx val="-2113994440"/>
        <c:crosses val="autoZero"/>
        <c:auto val="1"/>
        <c:lblAlgn val="ctr"/>
        <c:lblOffset val="100"/>
        <c:noMultiLvlLbl val="0"/>
      </c:catAx>
      <c:valAx>
        <c:axId val="-2113994440"/>
        <c:scaling/>
        <c:delete val="0"/>
        <c:axPos val="l"/>
        <c:majorGridlines>
          <c:spPr>
            <a:ln>
              <a:solidFill>
                <a:srgbClr val="C9D5D8"/>
              </a:solidFill>
            </a:ln>
          </c:spPr>
        </c:majorGridlines>
        <c:numFmt formatCode="0" sourceLinked="0"/>
        <c:majorTickMark val="out"/>
        <c:minorTickMark val="none"/>
        <c:tickLblPos val="nextTo"/>
        <c:spPr>
          <a:ln>
            <a:noFill/>
          </a:ln>
        </c:spPr>
        <c:txPr>
          <a:bodyPr/>
          <a:lstStyle/>
          <a:p>
            <a:pPr>
              <a:defRPr sz="1100">
                <a:solidFill>
                  <a:srgbClr val="5B6B70"/>
                </a:solidFill>
              </a:defRPr>
            </a:pPr>
          </a:p>
        </c:txPr>
        <c:crossAx val="-2068027336"/>
        <c:crosses val="autoZero"/>
      </c:valAx>
    </c:plotArea>
    <c:dispBlanksAs val="gap"/>
  </c:chart>
  <c:txPr>
    <a:bodyPr/>
    <a:lstStyle/>
    <a:p>
      <a:pPr>
        <a:defRPr sz="1200">
          <a:solidFill>
            <a:srgbClr val="1C2B3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This is a multi-agent AI system that answers one question payment operations teams ask every week: why did payment failures go up, and what should we do about it? Everything you will see runs on one Windows laptop: no cloud services, no paid APIs, no API keys. The data is synthetic, generated with a fixed seed, with an incident hidden in it, so we can check whether the system finds the truth.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failure rate jumps, an analyst has to combine four kinds of evidence by hand: the transactions themselves, our own deployments, the providers' status notices, and history to know what normal looks like. That is slow, and it invites the classic mistake of blaming whatever changed just before, the last deployment, without checking. The dataset here has 492,996 synthetic payments over 90 days across four payment providers, with one large incident injected: Kestrel timeouts from 23 to 25 September. There is also a deliberate red herring: a deployment two hours before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flow. A question in plain English. The local LLM proposes a plan, which week and which providers, and code validates it. Three agents then analyse in parallel. The impact agent sizes the damage. The LLM writes the report from the computed findings only, and every sentence is checked before anyone sees it. If too much fails, the user gets a clearly labelled template report instead. On the laptop a full run takes about 17 seconds for a simple question, and 26 seconds is the median across the ten evaluation questions; almost all of it is the model writing.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drove every design decision. One: local only and free. The configuration refuses any non-local address, and the test suite blocks outbound network calls. Two: code computes, the LLM writes. The model never calculates a number. Three: the backend enforces access. Roles are checked on every API call, and the LLM has no say in it. Four: every claim is checked, including the numbers, the citations and causal wording.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Everything sits inside the boundary of this one computer. The browser talks to the Streamlit dashboard, which talks only to the API. The API checks sign-in and roles, then runs the LangGraph workflow. Agents read the payment data through a read-only database login. History, accounts and the audit log live in a separate schema, written by a second login that cannot see payment data. The LLM is Ollama on the local GPU. Nothing crosses the dashed line; the only internet use is downloading software once, and GitHub CI, which is development tooling, not part of the app.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agents, each with one job and a fixed list of tools it may call. The coordinator plans and assembles. Transaction intelligence compares this week with last. Pattern investigation finds anomaly windows and ranks hypotheses. Forecasting says what normal looks like next. Business impact sizes the damage with honest labels. Verification and policy trusts nothing: it recomputes figures from the database and checks every sentence. Every tool call is recorded, and every finding cites the calls behind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Did it work? Yes. Across all providers, the weekly failure rate rose from 2.88 to 3.85 percent, a statistically significant change, and Kestrel explains 98 percent of the extra failures. Zooming in, Kestrel's failure rate went from 2.73 percent to 23.07 percent between 23 September 14:00 and 25 September 01:00. The injected incident ran from 14:00 on the 23rd to 02:00 on the 25th, so the window is right to the hour at the start and one hour short at the end. 87 percent of the failures in the window were timeouts, which is exactly what was injected. Source: docs/evaluation.md, seed 42.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am proudest of. A deployment went out two hours before the incident. A naive system, or a tired analyst, blames it. Our pattern agent checks: after that deployment, did every provider get worse, as you would expect if our own software broke? No, only Kestrel did, and our software serves all providers. So the deployment is ranked 'unlikely'. The provider-side problem leads, with a score of 6, but it is still called 'leading, unconfirmed', and the next step is to ask Kestrel for their incident report. The system shows its reasoning and does not overclaim.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trust text from a 4-billion-parameter model? We don't, we check it. Every sentence must cite a finding, every number must appear in the finding it cites, dates must be inside the period, and causal or proof language is removed unless hedged. Key figures are recomputed from the database. If more than 30 percent of sentences are removed, the user gets the template report, clearly labelled. In the second evaluation run, 93.8 percent of sentences passed, and both prompt-injection attempts were handled safely.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the real model on ten fixed questions: six ordinary, two prompt injections, two out of range. Run 1 found a bug in my own prompt, which I will come to on the next slide. After the fix, run 2: the plan was right for all ten questions, the verified LLM report was used every time, and 93.8 percent of sentences passed. Detection, measured separately on eight different random datasets, never raised a false alarm and caught 14 of 16 incidents; the two misses are the deliberately tiny ones below the reporting threshold. Ten questions is a small sample, so these numbers are indicative.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honest lessons. First, a checker can be wrong too. The first time the real model ran, all four removed sentences were actually true; the checker misread a date as a number, among other things. Each case became a regression test. Second, my own prompt caused errors: it gave an example ID, and the model copied it when there were no hypotheses. Removing the example took invented IDs from four to zero. Third, what checking cannot catch: the model once copied a cost range correctly but attached it to the wrong time period. Numbers can be right while the meaning is wrong, which is why findings stay visible beside every sentence, and why human review of a sample is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After every step, its output is saved as a checkpoint. When I stopped a run with Control-C while the model was writing, the resume reused the six finished steps and only re-ran the report, verification and finalize; it took 15.7 seconds instead of starting over. Checkpoints are plain JSON validated against the workflow's types, never unpickled objects, which avoids a class of vulnerability LangGraph's own checkpoint loader had. Every run is bounded by limits on time, steps, tool calls, LLM calls and concurrent runs.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Local accounts, passwords hashed with scrypt at OWASP's parameters, sessions held on the server so logout and disabling take effect immediately, and a lockout after five wrong passwords. Four roles. Note the separation of duties: the admin manages accounts and reads the audit log but cannot run investigations. Someone else's investigation answers 'not found', so IDs cannot be probed. Every sign-in, investigation, account change and refusal goes into an append-only audit log; a database trigger blocks changes even by the owner, and a hash chain shows exactly which row was altered.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Nine phases, each finished only when its tests passed on my laptop: from 37 tests in phase 1 to 435 in phase 8, including tests against the real database and the real local model. The whole system also runs as a Docker image: non-root, ports on 127.0.0.1 only, and no container holds a password it doesn't need. A GitHub Actions workflow is written to run the tests, build the image end to end and audit dependencies on every push; it has not been run on GitHub yet, and I say that plainly.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limits. The data is synthetic and cleaner than real data, so real-world accuracy would be lower. The model evaluation is ten questions, indicative not precise. Right-numbers-wrong-meaning errors need human review to measure. If you ask about a provider that doesn't exist, the report quietly reviews all providers instead of saying so. Next: a larger model on my new PC with an RTX 5070 Ti, using the same evaluation so results compare directly; a human review sample; per-provider data scoping for analysts; and running CI on GitHub.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live demo. I sign in as an analyst, ask what went wrong with Kestrel in the week of 21 September, and we watch the agents work. Then I show the verification panel and the evidence behind each sentence. Then I sign in as the admin to show that the Investigate tab is gone for that role, and verify the audit log's hash chain. If the live model is slow, the fallback is the CLI with --no-llm, which answers in under a second with the labelled template report. The full script is in docs/demo_script.md.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E35"/>
        </a:solidFill>
        <a:effectLst/>
      </p:bgPr>
    </p:bg>
    <p:spTree>
      <p:nvGrpSpPr>
        <p:cNvPr id="1" name=""/>
        <p:cNvGrpSpPr/>
        <p:nvPr/>
      </p:nvGrpSpPr>
      <p:grpSpPr/>
      <p:sp>
        <p:nvSpPr>
          <p:cNvPr id="2" name="Title 1"/>
          <p:cNvSpPr>
            <a:spLocks noGrp="1"/>
          </p:cNvSpPr>
          <p:nvPr>
            <p:ph type="title"/>
          </p:nvPr>
        </p:nvSpPr>
        <p:spPr>
          <a:xfrm>
            <a:off x="548640" y="2103120"/>
            <a:ext cx="11094415" cy="822960"/>
          </a:xfrm>
        </p:spPr>
        <p:txBody>
          <a:bodyPr wrap="square" anchor="ctr" lIns="0" rIns="0"/>
          <a:lstStyle/>
          <a:p>
            <a:pPr algn="l"/>
            <a:r>
              <a:rPr sz="3600" b="1" i="0">
                <a:solidFill>
                  <a:srgbClr val="FFFFFF"/>
                </a:solidFill>
                <a:latin typeface="Cambria"/>
              </a:rPr>
              <a:t>Payment Operations Intelligence</a:t>
            </a:r>
          </a:p>
        </p:txBody>
      </p:sp>
      <p:sp>
        <p:nvSpPr>
          <p:cNvPr id="3" name="TextBox 2"/>
          <p:cNvSpPr txBox="1"/>
          <p:nvPr/>
        </p:nvSpPr>
        <p:spPr>
          <a:xfrm>
            <a:off x="548640" y="3017520"/>
            <a:ext cx="10058400" cy="1097280"/>
          </a:xfrm>
          <a:prstGeom prst="rect">
            <a:avLst/>
          </a:prstGeom>
          <a:noFill/>
        </p:spPr>
        <p:txBody>
          <a:bodyPr wrap="square" anchor="t" lIns="0" rIns="0" tIns="0" bIns="0">
            <a:spAutoFit/>
          </a:bodyPr>
          <a:lstStyle/>
          <a:p>
            <a:pPr algn="l">
              <a:spcAft>
                <a:spcPts val="600"/>
              </a:spcAft>
            </a:pPr>
            <a:r>
              <a:rPr sz="2400" b="0" i="0">
                <a:solidFill>
                  <a:srgbClr val="BFD7DC"/>
                </a:solidFill>
                <a:latin typeface="Calibri"/>
              </a:rPr>
              <a:t>A local, multi-agent AI system for investigating payment failures</a:t>
            </a:r>
          </a:p>
        </p:txBody>
      </p:sp>
      <p:sp>
        <p:nvSpPr>
          <p:cNvPr id="4" name="Oval 3"/>
          <p:cNvSpPr/>
          <p:nvPr/>
        </p:nvSpPr>
        <p:spPr>
          <a:xfrm>
            <a:off x="548640" y="4572000"/>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FFFFFF"/>
                </a:solidFill>
                <a:latin typeface="Calibri"/>
              </a:rPr>
              <a:t>6</a:t>
            </a:r>
          </a:p>
        </p:txBody>
      </p:sp>
      <p:sp>
        <p:nvSpPr>
          <p:cNvPr id="5" name="TextBox 4"/>
          <p:cNvSpPr txBox="1"/>
          <p:nvPr/>
        </p:nvSpPr>
        <p:spPr>
          <a:xfrm>
            <a:off x="1417320" y="4572000"/>
            <a:ext cx="1920240" cy="7315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agents</a:t>
            </a:r>
          </a:p>
        </p:txBody>
      </p:sp>
      <p:sp>
        <p:nvSpPr>
          <p:cNvPr id="6" name="Oval 5"/>
          <p:cNvSpPr/>
          <p:nvPr/>
        </p:nvSpPr>
        <p:spPr>
          <a:xfrm>
            <a:off x="3474720" y="4572000"/>
            <a:ext cx="731520" cy="731520"/>
          </a:xfrm>
          <a:prstGeom prst="ellipse">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FFFFFF"/>
                </a:solidFill>
                <a:latin typeface="Calibri"/>
              </a:rPr>
              <a:t>435</a:t>
            </a:r>
          </a:p>
        </p:txBody>
      </p:sp>
      <p:sp>
        <p:nvSpPr>
          <p:cNvPr id="7" name="TextBox 6"/>
          <p:cNvSpPr txBox="1"/>
          <p:nvPr/>
        </p:nvSpPr>
        <p:spPr>
          <a:xfrm>
            <a:off x="4343400" y="4572000"/>
            <a:ext cx="1920240" cy="7315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tests passing</a:t>
            </a:r>
          </a:p>
        </p:txBody>
      </p:sp>
      <p:sp>
        <p:nvSpPr>
          <p:cNvPr id="8" name="Oval 7"/>
          <p:cNvSpPr/>
          <p:nvPr/>
        </p:nvSpPr>
        <p:spPr>
          <a:xfrm>
            <a:off x="6400800" y="4572000"/>
            <a:ext cx="731520" cy="731520"/>
          </a:xfrm>
          <a:prstGeom prst="ellipse">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i="0">
                <a:solidFill>
                  <a:srgbClr val="FFFFFF"/>
                </a:solidFill>
                <a:latin typeface="Calibri"/>
              </a:rPr>
              <a:t>0</a:t>
            </a:r>
          </a:p>
        </p:txBody>
      </p:sp>
      <p:sp>
        <p:nvSpPr>
          <p:cNvPr id="9" name="TextBox 8"/>
          <p:cNvSpPr txBox="1"/>
          <p:nvPr/>
        </p:nvSpPr>
        <p:spPr>
          <a:xfrm>
            <a:off x="7269480" y="4572000"/>
            <a:ext cx="1920240" cy="731520"/>
          </a:xfrm>
          <a:prstGeom prst="rect">
            <a:avLst/>
          </a:prstGeom>
          <a:noFill/>
        </p:spPr>
        <p:txBody>
          <a:bodyPr wrap="square" anchor="ctr" lIns="0" rIns="0" tIns="0" bIns="0">
            <a:spAutoFit/>
          </a:bodyPr>
          <a:lstStyle/>
          <a:p>
            <a:pPr algn="l">
              <a:spcAft>
                <a:spcPts val="600"/>
              </a:spcAft>
            </a:pPr>
            <a:r>
              <a:rPr sz="1800" b="0" i="0">
                <a:solidFill>
                  <a:srgbClr val="FFFFFF"/>
                </a:solidFill>
                <a:latin typeface="Calibri"/>
              </a:rPr>
              <a:t>cloud services</a:t>
            </a:r>
          </a:p>
        </p:txBody>
      </p:sp>
      <p:sp>
        <p:nvSpPr>
          <p:cNvPr id="10" name="TextBox 9"/>
          <p:cNvSpPr txBox="1"/>
          <p:nvPr/>
        </p:nvSpPr>
        <p:spPr>
          <a:xfrm>
            <a:off x="548640" y="6035040"/>
            <a:ext cx="10972800" cy="365760"/>
          </a:xfrm>
          <a:prstGeom prst="rect">
            <a:avLst/>
          </a:prstGeom>
          <a:noFill/>
        </p:spPr>
        <p:txBody>
          <a:bodyPr wrap="square" anchor="t" lIns="0" rIns="0" tIns="0" bIns="0">
            <a:spAutoFit/>
          </a:bodyPr>
          <a:lstStyle/>
          <a:p>
            <a:pPr algn="l">
              <a:spcAft>
                <a:spcPts val="600"/>
              </a:spcAft>
            </a:pPr>
            <a:r>
              <a:rPr sz="1300" b="0" i="0">
                <a:solidFill>
                  <a:srgbClr val="BFD7DC"/>
                </a:solidFill>
                <a:latin typeface="Calibri"/>
              </a:rPr>
              <a:t>Portfolio project · synthetic data · Python, PostgreSQL, FastAPI, Streamlit, LangGraph,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Why did payment failures go up last week?</a:t>
            </a:r>
          </a:p>
        </p:txBody>
      </p:sp>
      <p:sp>
        <p:nvSpPr>
          <p:cNvPr id="3" name="TextBox 2"/>
          <p:cNvSpPr txBox="1"/>
          <p:nvPr/>
        </p:nvSpPr>
        <p:spPr>
          <a:xfrm>
            <a:off x="548640" y="1463040"/>
            <a:ext cx="5120640" cy="1188720"/>
          </a:xfrm>
          <a:prstGeom prst="rect">
            <a:avLst/>
          </a:prstGeom>
          <a:noFill/>
        </p:spPr>
        <p:txBody>
          <a:bodyPr wrap="square" anchor="t" lIns="0" rIns="0" tIns="0" bIns="0">
            <a:spAutoFit/>
          </a:bodyPr>
          <a:lstStyle/>
          <a:p>
            <a:pPr algn="l">
              <a:spcAft>
                <a:spcPts val="600"/>
              </a:spcAft>
            </a:pPr>
            <a:r>
              <a:rPr sz="1800" b="0" i="0">
                <a:solidFill>
                  <a:srgbClr val="1C2B30"/>
                </a:solidFill>
                <a:latin typeface="Calibri"/>
              </a:rPr>
              <a:t>When the failure rate jumps, an analyst has to combine evidence that lives in different places, and avoid blaming whatever changed last.</a:t>
            </a:r>
          </a:p>
        </p:txBody>
      </p:sp>
      <p:sp>
        <p:nvSpPr>
          <p:cNvPr id="4" name="Oval 3"/>
          <p:cNvSpPr/>
          <p:nvPr/>
        </p:nvSpPr>
        <p:spPr>
          <a:xfrm>
            <a:off x="548640" y="288036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1234440" y="2862072"/>
            <a:ext cx="4206240" cy="68580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Transactions</a:t>
            </a:r>
          </a:p>
          <a:p>
            <a:pPr algn="l">
              <a:spcAft>
                <a:spcPts val="0"/>
              </a:spcAft>
            </a:pPr>
            <a:r>
              <a:rPr sz="1400" b="0" i="0">
                <a:solidFill>
                  <a:srgbClr val="5B6B70"/>
                </a:solidFill>
                <a:latin typeface="Calibri"/>
              </a:rPr>
              <a:t>who failed, where, why</a:t>
            </a:r>
          </a:p>
        </p:txBody>
      </p:sp>
      <p:sp>
        <p:nvSpPr>
          <p:cNvPr id="6" name="Oval 5"/>
          <p:cNvSpPr/>
          <p:nvPr/>
        </p:nvSpPr>
        <p:spPr>
          <a:xfrm>
            <a:off x="548640" y="374904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7" name="TextBox 6"/>
          <p:cNvSpPr txBox="1"/>
          <p:nvPr/>
        </p:nvSpPr>
        <p:spPr>
          <a:xfrm>
            <a:off x="1234440" y="3730752"/>
            <a:ext cx="4206240" cy="68580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Deployments</a:t>
            </a:r>
          </a:p>
          <a:p>
            <a:pPr algn="l">
              <a:spcAft>
                <a:spcPts val="0"/>
              </a:spcAft>
            </a:pPr>
            <a:r>
              <a:rPr sz="1400" b="0" i="0">
                <a:solidFill>
                  <a:srgbClr val="5B6B70"/>
                </a:solidFill>
                <a:latin typeface="Calibri"/>
              </a:rPr>
              <a:t>what we changed</a:t>
            </a:r>
          </a:p>
        </p:txBody>
      </p:sp>
      <p:sp>
        <p:nvSpPr>
          <p:cNvPr id="8" name="Oval 7"/>
          <p:cNvSpPr/>
          <p:nvPr/>
        </p:nvSpPr>
        <p:spPr>
          <a:xfrm>
            <a:off x="548640" y="461772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9" name="TextBox 8"/>
          <p:cNvSpPr txBox="1"/>
          <p:nvPr/>
        </p:nvSpPr>
        <p:spPr>
          <a:xfrm>
            <a:off x="1234440" y="4599432"/>
            <a:ext cx="4206240" cy="68580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Provider notices</a:t>
            </a:r>
          </a:p>
          <a:p>
            <a:pPr algn="l">
              <a:spcAft>
                <a:spcPts val="0"/>
              </a:spcAft>
            </a:pPr>
            <a:r>
              <a:rPr sz="1400" b="0" i="0">
                <a:solidFill>
                  <a:srgbClr val="5B6B70"/>
                </a:solidFill>
                <a:latin typeface="Calibri"/>
              </a:rPr>
              <a:t>what they admitted</a:t>
            </a:r>
          </a:p>
        </p:txBody>
      </p:sp>
      <p:sp>
        <p:nvSpPr>
          <p:cNvPr id="10" name="Oval 9"/>
          <p:cNvSpPr/>
          <p:nvPr/>
        </p:nvSpPr>
        <p:spPr>
          <a:xfrm>
            <a:off x="548640" y="548640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11" name="TextBox 10"/>
          <p:cNvSpPr txBox="1"/>
          <p:nvPr/>
        </p:nvSpPr>
        <p:spPr>
          <a:xfrm>
            <a:off x="1234440" y="5468112"/>
            <a:ext cx="4206240" cy="68580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History</a:t>
            </a:r>
          </a:p>
          <a:p>
            <a:pPr algn="l">
              <a:spcAft>
                <a:spcPts val="0"/>
              </a:spcAft>
            </a:pPr>
            <a:r>
              <a:rPr sz="1400" b="0" i="0">
                <a:solidFill>
                  <a:srgbClr val="5B6B70"/>
                </a:solidFill>
                <a:latin typeface="Calibri"/>
              </a:rPr>
              <a:t>what is normal</a:t>
            </a:r>
          </a:p>
        </p:txBody>
      </p:sp>
      <p:sp>
        <p:nvSpPr>
          <p:cNvPr id="12" name="dataset card"/>
          <p:cNvSpPr/>
          <p:nvPr/>
        </p:nvSpPr>
        <p:spPr>
          <a:xfrm>
            <a:off x="6400800" y="1463040"/>
            <a:ext cx="5239512" cy="475488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766560" y="1737360"/>
            <a:ext cx="4572000" cy="457200"/>
          </a:xfrm>
          <a:prstGeom prst="rect">
            <a:avLst/>
          </a:prstGeom>
          <a:noFill/>
        </p:spPr>
        <p:txBody>
          <a:bodyPr wrap="square" anchor="t" lIns="0" rIns="0" tIns="0" bIns="0">
            <a:spAutoFit/>
          </a:bodyPr>
          <a:lstStyle/>
          <a:p>
            <a:pPr algn="l">
              <a:spcAft>
                <a:spcPts val="600"/>
              </a:spcAft>
            </a:pPr>
            <a:r>
              <a:rPr sz="1600" b="1" i="0">
                <a:solidFill>
                  <a:srgbClr val="5B6B70"/>
                </a:solidFill>
                <a:latin typeface="Calibri"/>
              </a:rPr>
              <a:t>The test bed (synthetic, seed 42)</a:t>
            </a:r>
          </a:p>
        </p:txBody>
      </p:sp>
      <p:sp>
        <p:nvSpPr>
          <p:cNvPr id="14" name="TextBox 13"/>
          <p:cNvSpPr txBox="1"/>
          <p:nvPr/>
        </p:nvSpPr>
        <p:spPr>
          <a:xfrm>
            <a:off x="6766560" y="2240280"/>
            <a:ext cx="23774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492,996</a:t>
            </a:r>
          </a:p>
        </p:txBody>
      </p:sp>
      <p:sp>
        <p:nvSpPr>
          <p:cNvPr id="15" name="TextBox 14"/>
          <p:cNvSpPr txBox="1"/>
          <p:nvPr/>
        </p:nvSpPr>
        <p:spPr>
          <a:xfrm>
            <a:off x="6766560" y="3017520"/>
            <a:ext cx="23774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payment attempts</a:t>
            </a:r>
          </a:p>
        </p:txBody>
      </p:sp>
      <p:sp>
        <p:nvSpPr>
          <p:cNvPr id="16" name="TextBox 15"/>
          <p:cNvSpPr txBox="1"/>
          <p:nvPr/>
        </p:nvSpPr>
        <p:spPr>
          <a:xfrm>
            <a:off x="9235440" y="2240280"/>
            <a:ext cx="219456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90 days</a:t>
            </a:r>
          </a:p>
        </p:txBody>
      </p:sp>
      <p:sp>
        <p:nvSpPr>
          <p:cNvPr id="17" name="TextBox 16"/>
          <p:cNvSpPr txBox="1"/>
          <p:nvPr/>
        </p:nvSpPr>
        <p:spPr>
          <a:xfrm>
            <a:off x="9235440" y="3017520"/>
            <a:ext cx="219456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1 Jul – 28 Sep 2026</a:t>
            </a:r>
          </a:p>
        </p:txBody>
      </p:sp>
      <p:sp>
        <p:nvSpPr>
          <p:cNvPr id="18" name="TextBox 17"/>
          <p:cNvSpPr txBox="1"/>
          <p:nvPr/>
        </p:nvSpPr>
        <p:spPr>
          <a:xfrm>
            <a:off x="6766560" y="3657600"/>
            <a:ext cx="23774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4</a:t>
            </a:r>
          </a:p>
        </p:txBody>
      </p:sp>
      <p:sp>
        <p:nvSpPr>
          <p:cNvPr id="19" name="TextBox 18"/>
          <p:cNvSpPr txBox="1"/>
          <p:nvPr/>
        </p:nvSpPr>
        <p:spPr>
          <a:xfrm>
            <a:off x="6766560" y="4434840"/>
            <a:ext cx="23774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payment providers</a:t>
            </a:r>
          </a:p>
        </p:txBody>
      </p:sp>
      <p:sp>
        <p:nvSpPr>
          <p:cNvPr id="20" name="TextBox 19"/>
          <p:cNvSpPr txBox="1"/>
          <p:nvPr/>
        </p:nvSpPr>
        <p:spPr>
          <a:xfrm>
            <a:off x="9235440" y="3657600"/>
            <a:ext cx="2194560" cy="731520"/>
          </a:xfrm>
          <a:prstGeom prst="rect">
            <a:avLst/>
          </a:prstGeom>
          <a:noFill/>
        </p:spPr>
        <p:txBody>
          <a:bodyPr wrap="square" anchor="t" lIns="0" rIns="0" tIns="0" bIns="0">
            <a:spAutoFit/>
          </a:bodyPr>
          <a:lstStyle/>
          <a:p>
            <a:pPr algn="l">
              <a:spcAft>
                <a:spcPts val="600"/>
              </a:spcAft>
            </a:pPr>
            <a:r>
              <a:rPr sz="4400" b="1" i="0">
                <a:solidFill>
                  <a:srgbClr val="EB6834"/>
                </a:solidFill>
                <a:latin typeface="Cambria"/>
              </a:rPr>
              <a:t>1 + 1</a:t>
            </a:r>
          </a:p>
        </p:txBody>
      </p:sp>
      <p:sp>
        <p:nvSpPr>
          <p:cNvPr id="21" name="TextBox 20"/>
          <p:cNvSpPr txBox="1"/>
          <p:nvPr/>
        </p:nvSpPr>
        <p:spPr>
          <a:xfrm>
            <a:off x="9235440" y="4434840"/>
            <a:ext cx="219456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incidents hidden</a:t>
            </a:r>
          </a:p>
        </p:txBody>
      </p:sp>
      <p:sp>
        <p:nvSpPr>
          <p:cNvPr id="22" name="TextBox 21"/>
          <p:cNvSpPr txBox="1"/>
          <p:nvPr/>
        </p:nvSpPr>
        <p:spPr>
          <a:xfrm>
            <a:off x="6766560" y="5166360"/>
            <a:ext cx="4572000" cy="8229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The answer key (ground_truth.json) is never read by the application, only by the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One question in, a verified report out</a:t>
            </a:r>
          </a:p>
        </p:txBody>
      </p:sp>
      <p:sp>
        <p:nvSpPr>
          <p:cNvPr id="3" name="Rounded Rectangle 2"/>
          <p:cNvSpPr/>
          <p:nvPr/>
        </p:nvSpPr>
        <p:spPr>
          <a:xfrm>
            <a:off x="548640"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23774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777240"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Plan</a:t>
            </a:r>
          </a:p>
        </p:txBody>
      </p:sp>
      <p:sp>
        <p:nvSpPr>
          <p:cNvPr id="6" name="TextBox 5"/>
          <p:cNvSpPr txBox="1"/>
          <p:nvPr/>
        </p:nvSpPr>
        <p:spPr>
          <a:xfrm>
            <a:off x="777240"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LLM reads the question;</a:t>
            </a:r>
          </a:p>
          <a:p>
            <a:pPr algn="l">
              <a:spcAft>
                <a:spcPts val="0"/>
              </a:spcAft>
            </a:pPr>
            <a:r>
              <a:rPr sz="1300" b="0" i="0">
                <a:solidFill>
                  <a:srgbClr val="5B6B70"/>
                </a:solidFill>
                <a:latin typeface="Calibri"/>
              </a:rPr>
              <a:t>code validates it</a:t>
            </a:r>
          </a:p>
        </p:txBody>
      </p:sp>
      <p:cxnSp>
        <p:nvCxnSpPr>
          <p:cNvPr id="7" name="Connector 6"/>
          <p:cNvCxnSpPr/>
          <p:nvPr/>
        </p:nvCxnSpPr>
        <p:spPr>
          <a:xfrm>
            <a:off x="2205685" y="3291840"/>
            <a:ext cx="201168"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43429"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672029" y="237744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10" name="TextBox 9"/>
          <p:cNvSpPr txBox="1"/>
          <p:nvPr/>
        </p:nvSpPr>
        <p:spPr>
          <a:xfrm>
            <a:off x="2672029"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Analyse ×3</a:t>
            </a:r>
          </a:p>
        </p:txBody>
      </p:sp>
      <p:sp>
        <p:nvSpPr>
          <p:cNvPr id="11" name="TextBox 10"/>
          <p:cNvSpPr txBox="1"/>
          <p:nvPr/>
        </p:nvSpPr>
        <p:spPr>
          <a:xfrm>
            <a:off x="2672029"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transactions, patterns,</a:t>
            </a:r>
          </a:p>
          <a:p>
            <a:pPr algn="l">
              <a:spcAft>
                <a:spcPts val="0"/>
              </a:spcAft>
            </a:pPr>
            <a:r>
              <a:rPr sz="1300" b="0" i="0">
                <a:solidFill>
                  <a:srgbClr val="5B6B70"/>
                </a:solidFill>
                <a:latin typeface="Calibri"/>
              </a:rPr>
              <a:t>forecast in parallel</a:t>
            </a:r>
          </a:p>
        </p:txBody>
      </p:sp>
      <p:cxnSp>
        <p:nvCxnSpPr>
          <p:cNvPr id="12" name="Connector 11"/>
          <p:cNvCxnSpPr/>
          <p:nvPr/>
        </p:nvCxnSpPr>
        <p:spPr>
          <a:xfrm>
            <a:off x="4100474" y="3291840"/>
            <a:ext cx="201168"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38218"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66818" y="237744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15" name="TextBox 14"/>
          <p:cNvSpPr txBox="1"/>
          <p:nvPr/>
        </p:nvSpPr>
        <p:spPr>
          <a:xfrm>
            <a:off x="4566818"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Size impact</a:t>
            </a:r>
          </a:p>
        </p:txBody>
      </p:sp>
      <p:sp>
        <p:nvSpPr>
          <p:cNvPr id="16" name="TextBox 15"/>
          <p:cNvSpPr txBox="1"/>
          <p:nvPr/>
        </p:nvSpPr>
        <p:spPr>
          <a:xfrm>
            <a:off x="4566818"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measured, estimated,</a:t>
            </a:r>
          </a:p>
          <a:p>
            <a:pPr algn="l">
              <a:spcAft>
                <a:spcPts val="0"/>
              </a:spcAft>
            </a:pPr>
            <a:r>
              <a:rPr sz="1300" b="0" i="0">
                <a:solidFill>
                  <a:srgbClr val="5B6B70"/>
                </a:solidFill>
                <a:latin typeface="Calibri"/>
              </a:rPr>
              <a:t>hypothetical, labelled</a:t>
            </a:r>
          </a:p>
        </p:txBody>
      </p:sp>
      <p:cxnSp>
        <p:nvCxnSpPr>
          <p:cNvPr id="17" name="Connector 16"/>
          <p:cNvCxnSpPr/>
          <p:nvPr/>
        </p:nvCxnSpPr>
        <p:spPr>
          <a:xfrm>
            <a:off x="5995264" y="3291840"/>
            <a:ext cx="201168"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33008"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8" y="237744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20" name="TextBox 19"/>
          <p:cNvSpPr txBox="1"/>
          <p:nvPr/>
        </p:nvSpPr>
        <p:spPr>
          <a:xfrm>
            <a:off x="6461608"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Write</a:t>
            </a:r>
          </a:p>
        </p:txBody>
      </p:sp>
      <p:sp>
        <p:nvSpPr>
          <p:cNvPr id="21" name="TextBox 20"/>
          <p:cNvSpPr txBox="1"/>
          <p:nvPr/>
        </p:nvSpPr>
        <p:spPr>
          <a:xfrm>
            <a:off x="6461608"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LLM writes from</a:t>
            </a:r>
          </a:p>
          <a:p>
            <a:pPr algn="l">
              <a:spcAft>
                <a:spcPts val="0"/>
              </a:spcAft>
            </a:pPr>
            <a:r>
              <a:rPr sz="1300" b="0" i="0">
                <a:solidFill>
                  <a:srgbClr val="5B6B70"/>
                </a:solidFill>
                <a:latin typeface="Calibri"/>
              </a:rPr>
              <a:t>findings only</a:t>
            </a:r>
          </a:p>
        </p:txBody>
      </p:sp>
      <p:cxnSp>
        <p:nvCxnSpPr>
          <p:cNvPr id="22" name="Connector 21"/>
          <p:cNvCxnSpPr/>
          <p:nvPr/>
        </p:nvCxnSpPr>
        <p:spPr>
          <a:xfrm>
            <a:off x="7890053" y="3291840"/>
            <a:ext cx="201168"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27797"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8356397" y="237744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25" name="TextBox 24"/>
          <p:cNvSpPr txBox="1"/>
          <p:nvPr/>
        </p:nvSpPr>
        <p:spPr>
          <a:xfrm>
            <a:off x="8356397"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Verify</a:t>
            </a:r>
          </a:p>
        </p:txBody>
      </p:sp>
      <p:sp>
        <p:nvSpPr>
          <p:cNvPr id="26" name="TextBox 25"/>
          <p:cNvSpPr txBox="1"/>
          <p:nvPr/>
        </p:nvSpPr>
        <p:spPr>
          <a:xfrm>
            <a:off x="8356397"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every sentence and</a:t>
            </a:r>
          </a:p>
          <a:p>
            <a:pPr algn="l">
              <a:spcAft>
                <a:spcPts val="0"/>
              </a:spcAft>
            </a:pPr>
            <a:r>
              <a:rPr sz="1300" b="0" i="0">
                <a:solidFill>
                  <a:srgbClr val="5B6B70"/>
                </a:solidFill>
                <a:latin typeface="Calibri"/>
              </a:rPr>
              <a:t>number checked</a:t>
            </a:r>
          </a:p>
        </p:txBody>
      </p:sp>
      <p:cxnSp>
        <p:nvCxnSpPr>
          <p:cNvPr id="27" name="Connector 26"/>
          <p:cNvCxnSpPr/>
          <p:nvPr/>
        </p:nvCxnSpPr>
        <p:spPr>
          <a:xfrm>
            <a:off x="9784842" y="3291840"/>
            <a:ext cx="201168"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22586" y="2103120"/>
            <a:ext cx="1620469" cy="23774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51186" y="237744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30" name="TextBox 29"/>
          <p:cNvSpPr txBox="1"/>
          <p:nvPr/>
        </p:nvSpPr>
        <p:spPr>
          <a:xfrm>
            <a:off x="10251186" y="3063240"/>
            <a:ext cx="1254709" cy="45720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Report</a:t>
            </a:r>
          </a:p>
        </p:txBody>
      </p:sp>
      <p:sp>
        <p:nvSpPr>
          <p:cNvPr id="31" name="TextBox 30"/>
          <p:cNvSpPr txBox="1"/>
          <p:nvPr/>
        </p:nvSpPr>
        <p:spPr>
          <a:xfrm>
            <a:off x="10251186" y="3520440"/>
            <a:ext cx="1254709" cy="822960"/>
          </a:xfrm>
          <a:prstGeom prst="rect">
            <a:avLst/>
          </a:prstGeom>
          <a:noFill/>
        </p:spPr>
        <p:txBody>
          <a:bodyPr wrap="square" anchor="t" lIns="0" rIns="0" tIns="0" bIns="0">
            <a:spAutoFit/>
          </a:bodyPr>
          <a:lstStyle/>
          <a:p>
            <a:pPr algn="l">
              <a:spcAft>
                <a:spcPts val="0"/>
              </a:spcAft>
            </a:pPr>
            <a:r>
              <a:rPr sz="1300" b="0" i="0">
                <a:solidFill>
                  <a:srgbClr val="5B6B70"/>
                </a:solidFill>
                <a:latin typeface="Calibri"/>
              </a:rPr>
              <a:t>LLM report, or a</a:t>
            </a:r>
          </a:p>
          <a:p>
            <a:pPr algn="l">
              <a:spcAft>
                <a:spcPts val="0"/>
              </a:spcAft>
            </a:pPr>
            <a:r>
              <a:rPr sz="1300" b="0" i="0">
                <a:solidFill>
                  <a:srgbClr val="5B6B70"/>
                </a:solidFill>
                <a:latin typeface="Calibri"/>
              </a:rPr>
              <a:t>labelled template</a:t>
            </a:r>
          </a:p>
        </p:txBody>
      </p:sp>
      <p:sp>
        <p:nvSpPr>
          <p:cNvPr id="32" name="TextBox 31"/>
          <p:cNvSpPr txBox="1"/>
          <p:nvPr/>
        </p:nvSpPr>
        <p:spPr>
          <a:xfrm>
            <a:off x="548640" y="4892040"/>
            <a:ext cx="10972800" cy="457200"/>
          </a:xfrm>
          <a:prstGeom prst="rect">
            <a:avLst/>
          </a:prstGeom>
          <a:noFill/>
        </p:spPr>
        <p:txBody>
          <a:bodyPr wrap="square" anchor="t" lIns="0" rIns="0" tIns="0" bIns="0">
            <a:spAutoFit/>
          </a:bodyPr>
          <a:lstStyle/>
          <a:p>
            <a:pPr algn="l">
              <a:spcAft>
                <a:spcPts val="600"/>
              </a:spcAft>
            </a:pPr>
            <a:r>
              <a:rPr sz="1600" b="1" i="0">
                <a:solidFill>
                  <a:srgbClr val="EB6834"/>
                </a:solidFill>
                <a:latin typeface="Calibri"/>
              </a:rPr>
              <a:t>Orange</a:t>
            </a:r>
            <a:r>
              <a:rPr sz="1600" b="0" i="0">
                <a:solidFill>
                  <a:srgbClr val="1C2B30"/>
                </a:solidFill>
                <a:latin typeface="Calibri"/>
              </a:rPr>
              <a:t> = the only two steps where the LLM is used. </a:t>
            </a:r>
            <a:r>
              <a:rPr sz="1600" b="1" i="0">
                <a:solidFill>
                  <a:srgbClr val="1C2B30"/>
                </a:solidFill>
                <a:latin typeface="Calibri"/>
              </a:rPr>
              <a:t>Everything else is SQL and tested Python.</a:t>
            </a:r>
          </a:p>
        </p:txBody>
      </p:sp>
      <p:sp>
        <p:nvSpPr>
          <p:cNvPr id="33" name="TextBox 32"/>
          <p:cNvSpPr txBox="1"/>
          <p:nvPr/>
        </p:nvSpPr>
        <p:spPr>
          <a:xfrm>
            <a:off x="548640" y="5486400"/>
            <a:ext cx="10972800" cy="457200"/>
          </a:xfrm>
          <a:prstGeom prst="rect">
            <a:avLst/>
          </a:prstGeom>
          <a:noFill/>
        </p:spPr>
        <p:txBody>
          <a:bodyPr wrap="square" anchor="t" lIns="0" rIns="0" tIns="0" bIns="0">
            <a:spAutoFit/>
          </a:bodyPr>
          <a:lstStyle/>
          <a:p>
            <a:pPr algn="l">
              <a:spcAft>
                <a:spcPts val="600"/>
              </a:spcAft>
            </a:pPr>
            <a:r>
              <a:rPr sz="1400" b="0" i="0">
                <a:solidFill>
                  <a:srgbClr val="5B6B70"/>
                </a:solidFill>
                <a:latin typeface="Calibri"/>
              </a:rPr>
              <a:t>Measured on the development laptop (qwen3:4b, AMD GPU): median 26 s per investigation, under 0.5 s of it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Four rules shaped every design decision</a:t>
            </a:r>
          </a:p>
        </p:txBody>
      </p:sp>
      <p:sp>
        <p:nvSpPr>
          <p:cNvPr id="3" name="Rounded Rectangle 2"/>
          <p:cNvSpPr/>
          <p:nvPr/>
        </p:nvSpPr>
        <p:spPr>
          <a:xfrm>
            <a:off x="548640" y="1463040"/>
            <a:ext cx="539496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73736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1508760" y="1755648"/>
            <a:ext cx="416052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Local only, zero cost</a:t>
            </a:r>
          </a:p>
        </p:txBody>
      </p:sp>
      <p:sp>
        <p:nvSpPr>
          <p:cNvPr id="6" name="TextBox 5"/>
          <p:cNvSpPr txBox="1"/>
          <p:nvPr/>
        </p:nvSpPr>
        <p:spPr>
          <a:xfrm>
            <a:off x="1508760" y="2286000"/>
            <a:ext cx="4160520" cy="1188720"/>
          </a:xfrm>
          <a:prstGeom prst="rect">
            <a:avLst/>
          </a:prstGeom>
          <a:noFill/>
        </p:spPr>
        <p:txBody>
          <a:bodyPr wrap="square" anchor="t" lIns="0" rIns="0" tIns="0" bIns="0">
            <a:spAutoFit/>
          </a:bodyPr>
          <a:lstStyle/>
          <a:p>
            <a:pPr algn="l">
              <a:spcAft>
                <a:spcPts val="600"/>
              </a:spcAft>
            </a:pPr>
            <a:r>
              <a:rPr sz="1500" b="0" i="0">
                <a:solidFill>
                  <a:srgbClr val="1C2B30"/>
                </a:solidFill>
                <a:latin typeface="Calibri"/>
              </a:rPr>
              <a:t>Ollama for the LLM, PostgreSQL in Docker; config rejects non-local hosts; tests fail on any outbound call.</a:t>
            </a:r>
          </a:p>
        </p:txBody>
      </p:sp>
      <p:sp>
        <p:nvSpPr>
          <p:cNvPr id="7" name="Rounded Rectangle 6"/>
          <p:cNvSpPr/>
          <p:nvPr/>
        </p:nvSpPr>
        <p:spPr>
          <a:xfrm>
            <a:off x="6245352" y="1463040"/>
            <a:ext cx="539496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19672" y="173736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9" name="TextBox 8"/>
          <p:cNvSpPr txBox="1"/>
          <p:nvPr/>
        </p:nvSpPr>
        <p:spPr>
          <a:xfrm>
            <a:off x="7205472" y="1755648"/>
            <a:ext cx="416052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Code computes, the LLM writes</a:t>
            </a:r>
          </a:p>
        </p:txBody>
      </p:sp>
      <p:sp>
        <p:nvSpPr>
          <p:cNvPr id="10" name="TextBox 9"/>
          <p:cNvSpPr txBox="1"/>
          <p:nvPr/>
        </p:nvSpPr>
        <p:spPr>
          <a:xfrm>
            <a:off x="7205472" y="2286000"/>
            <a:ext cx="4160520" cy="1188720"/>
          </a:xfrm>
          <a:prstGeom prst="rect">
            <a:avLst/>
          </a:prstGeom>
          <a:noFill/>
        </p:spPr>
        <p:txBody>
          <a:bodyPr wrap="square" anchor="t" lIns="0" rIns="0" tIns="0" bIns="0">
            <a:spAutoFit/>
          </a:bodyPr>
          <a:lstStyle/>
          <a:p>
            <a:pPr algn="l">
              <a:spcAft>
                <a:spcPts val="600"/>
              </a:spcAft>
            </a:pPr>
            <a:r>
              <a:rPr sz="1500" b="0" i="0">
                <a:solidFill>
                  <a:srgbClr val="1C2B30"/>
                </a:solidFill>
                <a:latin typeface="Calibri"/>
              </a:rPr>
              <a:t>Every number comes from SQL and tested Python. The model only plans and phrases, and cites the finding behind each sentence.</a:t>
            </a:r>
          </a:p>
        </p:txBody>
      </p:sp>
      <p:sp>
        <p:nvSpPr>
          <p:cNvPr id="11" name="Rounded Rectangle 10"/>
          <p:cNvSpPr/>
          <p:nvPr/>
        </p:nvSpPr>
        <p:spPr>
          <a:xfrm>
            <a:off x="548640" y="3867912"/>
            <a:ext cx="539496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22960" y="4142232"/>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13" name="TextBox 12"/>
          <p:cNvSpPr txBox="1"/>
          <p:nvPr/>
        </p:nvSpPr>
        <p:spPr>
          <a:xfrm>
            <a:off x="1508760" y="4160520"/>
            <a:ext cx="416052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The backend enforces access</a:t>
            </a:r>
          </a:p>
        </p:txBody>
      </p:sp>
      <p:sp>
        <p:nvSpPr>
          <p:cNvPr id="14" name="TextBox 13"/>
          <p:cNvSpPr txBox="1"/>
          <p:nvPr/>
        </p:nvSpPr>
        <p:spPr>
          <a:xfrm>
            <a:off x="1508760" y="4690872"/>
            <a:ext cx="4160520" cy="1188720"/>
          </a:xfrm>
          <a:prstGeom prst="rect">
            <a:avLst/>
          </a:prstGeom>
          <a:noFill/>
        </p:spPr>
        <p:txBody>
          <a:bodyPr wrap="square" anchor="t" lIns="0" rIns="0" tIns="0" bIns="0">
            <a:spAutoFit/>
          </a:bodyPr>
          <a:lstStyle/>
          <a:p>
            <a:pPr algn="l">
              <a:spcAft>
                <a:spcPts val="600"/>
              </a:spcAft>
            </a:pPr>
            <a:r>
              <a:rPr sz="1500" b="0" i="0">
                <a:solidFill>
                  <a:srgbClr val="1C2B30"/>
                </a:solidFill>
                <a:latin typeface="Calibri"/>
              </a:rPr>
              <a:t>Sign-in and role checks on every API route; the LLM never decides who may see what.</a:t>
            </a:r>
          </a:p>
        </p:txBody>
      </p:sp>
      <p:sp>
        <p:nvSpPr>
          <p:cNvPr id="15" name="Rounded Rectangle 14"/>
          <p:cNvSpPr/>
          <p:nvPr/>
        </p:nvSpPr>
        <p:spPr>
          <a:xfrm>
            <a:off x="6245352" y="3867912"/>
            <a:ext cx="539496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519672" y="4142232"/>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17" name="TextBox 16"/>
          <p:cNvSpPr txBox="1"/>
          <p:nvPr/>
        </p:nvSpPr>
        <p:spPr>
          <a:xfrm>
            <a:off x="7205472" y="4160520"/>
            <a:ext cx="416052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Every claim is checked</a:t>
            </a:r>
          </a:p>
        </p:txBody>
      </p:sp>
      <p:sp>
        <p:nvSpPr>
          <p:cNvPr id="18" name="TextBox 17"/>
          <p:cNvSpPr txBox="1"/>
          <p:nvPr/>
        </p:nvSpPr>
        <p:spPr>
          <a:xfrm>
            <a:off x="7205472" y="4690872"/>
            <a:ext cx="4160520" cy="1188720"/>
          </a:xfrm>
          <a:prstGeom prst="rect">
            <a:avLst/>
          </a:prstGeom>
          <a:noFill/>
        </p:spPr>
        <p:txBody>
          <a:bodyPr wrap="square" anchor="t" lIns="0" rIns="0" tIns="0" bIns="0">
            <a:spAutoFit/>
          </a:bodyPr>
          <a:lstStyle/>
          <a:p>
            <a:pPr algn="l">
              <a:spcAft>
                <a:spcPts val="600"/>
              </a:spcAft>
            </a:pPr>
            <a:r>
              <a:rPr sz="1500" b="0" i="0">
                <a:solidFill>
                  <a:srgbClr val="1C2B30"/>
                </a:solidFill>
                <a:latin typeface="Calibri"/>
              </a:rPr>
              <a:t>Citations, numbers, dates, causal and proof wording, and recomputation of key figures from the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Everything runs on one computer</a:t>
            </a:r>
          </a:p>
        </p:txBody>
      </p:sp>
      <p:sp>
        <p:nvSpPr>
          <p:cNvPr id="3" name="this computer"/>
          <p:cNvSpPr/>
          <p:nvPr/>
        </p:nvSpPr>
        <p:spPr>
          <a:xfrm>
            <a:off x="548640" y="1463040"/>
            <a:ext cx="11094415" cy="4800600"/>
          </a:xfrm>
          <a:prstGeom prst="roundRect">
            <a:avLst>
              <a:gd name="adj" fmla="val 4000"/>
            </a:avLst>
          </a:prstGeom>
          <a:noFill/>
          <a:ln w="19050">
            <a:solidFill>
              <a:srgbClr val="5B6B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5486400" cy="365760"/>
          </a:xfrm>
          <a:prstGeom prst="rect">
            <a:avLst/>
          </a:prstGeom>
          <a:noFill/>
        </p:spPr>
        <p:txBody>
          <a:bodyPr wrap="square" anchor="t" lIns="0" rIns="0" tIns="0" bIns="0">
            <a:spAutoFit/>
          </a:bodyPr>
          <a:lstStyle/>
          <a:p>
            <a:pPr algn="l">
              <a:spcAft>
                <a:spcPts val="600"/>
              </a:spcAft>
            </a:pPr>
            <a:r>
              <a:rPr sz="1400" b="1" i="0">
                <a:solidFill>
                  <a:srgbClr val="5B6B70"/>
                </a:solidFill>
                <a:latin typeface="Calibri"/>
              </a:rPr>
              <a:t>This computer (127.0.0.1 only)</a:t>
            </a:r>
          </a:p>
        </p:txBody>
      </p:sp>
      <p:sp>
        <p:nvSpPr>
          <p:cNvPr id="5" name="Browser"/>
          <p:cNvSpPr/>
          <p:nvPr/>
        </p:nvSpPr>
        <p:spPr>
          <a:xfrm>
            <a:off x="822960" y="2148840"/>
            <a:ext cx="2011680" cy="132588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286000"/>
            <a:ext cx="1645920" cy="411480"/>
          </a:xfrm>
          <a:prstGeom prst="rect">
            <a:avLst/>
          </a:prstGeom>
          <a:noFill/>
        </p:spPr>
        <p:txBody>
          <a:bodyPr wrap="square" anchor="t" lIns="0" rIns="0" tIns="0" bIns="0">
            <a:spAutoFit/>
          </a:bodyPr>
          <a:lstStyle/>
          <a:p>
            <a:pPr algn="l">
              <a:spcAft>
                <a:spcPts val="600"/>
              </a:spcAft>
            </a:pPr>
            <a:r>
              <a:rPr sz="1600" b="1" i="0">
                <a:solidFill>
                  <a:srgbClr val="0F2E35"/>
                </a:solidFill>
                <a:latin typeface="Calibri"/>
              </a:rPr>
              <a:t>Browser</a:t>
            </a:r>
          </a:p>
        </p:txBody>
      </p:sp>
      <p:sp>
        <p:nvSpPr>
          <p:cNvPr id="7" name="TextBox 6"/>
          <p:cNvSpPr txBox="1"/>
          <p:nvPr/>
        </p:nvSpPr>
        <p:spPr>
          <a:xfrm>
            <a:off x="1005840" y="2697480"/>
            <a:ext cx="1645920" cy="685800"/>
          </a:xfrm>
          <a:prstGeom prst="rect">
            <a:avLst/>
          </a:prstGeom>
          <a:noFill/>
        </p:spPr>
        <p:txBody>
          <a:bodyPr wrap="square" anchor="t" lIns="0" rIns="0" tIns="0" bIns="0">
            <a:spAutoFit/>
          </a:bodyPr>
          <a:lstStyle/>
          <a:p>
            <a:pPr algn="l">
              <a:spcAft>
                <a:spcPts val="0"/>
              </a:spcAft>
            </a:pPr>
            <a:r>
              <a:rPr sz="1200" b="0" i="0">
                <a:solidFill>
                  <a:srgbClr val="5B6B70"/>
                </a:solidFill>
                <a:latin typeface="Calibri"/>
              </a:rPr>
              <a:t>you, signed in</a:t>
            </a:r>
          </a:p>
        </p:txBody>
      </p:sp>
      <p:sp>
        <p:nvSpPr>
          <p:cNvPr id="8" name="Dashboard"/>
          <p:cNvSpPr/>
          <p:nvPr/>
        </p:nvSpPr>
        <p:spPr>
          <a:xfrm>
            <a:off x="3291840" y="2148840"/>
            <a:ext cx="2377440" cy="132588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474720" y="2286000"/>
            <a:ext cx="2011680" cy="411480"/>
          </a:xfrm>
          <a:prstGeom prst="rect">
            <a:avLst/>
          </a:prstGeom>
          <a:noFill/>
        </p:spPr>
        <p:txBody>
          <a:bodyPr wrap="square" anchor="t" lIns="0" rIns="0" tIns="0" bIns="0">
            <a:spAutoFit/>
          </a:bodyPr>
          <a:lstStyle/>
          <a:p>
            <a:pPr algn="l">
              <a:spcAft>
                <a:spcPts val="600"/>
              </a:spcAft>
            </a:pPr>
            <a:r>
              <a:rPr sz="1600" b="1" i="0">
                <a:solidFill>
                  <a:srgbClr val="0F2E35"/>
                </a:solidFill>
                <a:latin typeface="Calibri"/>
              </a:rPr>
              <a:t>Dashboard</a:t>
            </a:r>
          </a:p>
        </p:txBody>
      </p:sp>
      <p:sp>
        <p:nvSpPr>
          <p:cNvPr id="10" name="TextBox 9"/>
          <p:cNvSpPr txBox="1"/>
          <p:nvPr/>
        </p:nvSpPr>
        <p:spPr>
          <a:xfrm>
            <a:off x="3474720" y="2697480"/>
            <a:ext cx="2011680" cy="685800"/>
          </a:xfrm>
          <a:prstGeom prst="rect">
            <a:avLst/>
          </a:prstGeom>
          <a:noFill/>
        </p:spPr>
        <p:txBody>
          <a:bodyPr wrap="square" anchor="t" lIns="0" rIns="0" tIns="0" bIns="0">
            <a:spAutoFit/>
          </a:bodyPr>
          <a:lstStyle/>
          <a:p>
            <a:pPr algn="l">
              <a:spcAft>
                <a:spcPts val="0"/>
              </a:spcAft>
            </a:pPr>
            <a:r>
              <a:rPr sz="1200" b="0" i="0">
                <a:solidFill>
                  <a:srgbClr val="5B6B70"/>
                </a:solidFill>
                <a:latin typeface="Calibri"/>
              </a:rPr>
              <a:t>Streamlit</a:t>
            </a:r>
          </a:p>
          <a:p>
            <a:pPr algn="l">
              <a:spcAft>
                <a:spcPts val="0"/>
              </a:spcAft>
            </a:pPr>
            <a:r>
              <a:rPr sz="1200" b="0" i="0">
                <a:solidFill>
                  <a:srgbClr val="5B6B70"/>
                </a:solidFill>
                <a:latin typeface="Calibri"/>
              </a:rPr>
              <a:t>no database password</a:t>
            </a:r>
          </a:p>
        </p:txBody>
      </p:sp>
      <p:sp>
        <p:nvSpPr>
          <p:cNvPr id="11" name="API"/>
          <p:cNvSpPr/>
          <p:nvPr/>
        </p:nvSpPr>
        <p:spPr>
          <a:xfrm>
            <a:off x="6126480" y="2148840"/>
            <a:ext cx="2651760" cy="1325880"/>
          </a:xfrm>
          <a:prstGeom prst="roundRect">
            <a:avLst>
              <a:gd name="adj" fmla="val 8000"/>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09360" y="2286000"/>
            <a:ext cx="2286000" cy="411480"/>
          </a:xfrm>
          <a:prstGeom prst="rect">
            <a:avLst/>
          </a:prstGeom>
          <a:noFill/>
        </p:spPr>
        <p:txBody>
          <a:bodyPr wrap="square" anchor="t" lIns="0" rIns="0" tIns="0" bIns="0">
            <a:spAutoFit/>
          </a:bodyPr>
          <a:lstStyle/>
          <a:p>
            <a:pPr algn="l">
              <a:spcAft>
                <a:spcPts val="600"/>
              </a:spcAft>
            </a:pPr>
            <a:r>
              <a:rPr sz="1600" b="1" i="0">
                <a:solidFill>
                  <a:srgbClr val="FFFFFF"/>
                </a:solidFill>
                <a:latin typeface="Calibri"/>
              </a:rPr>
              <a:t>API</a:t>
            </a:r>
          </a:p>
        </p:txBody>
      </p:sp>
      <p:sp>
        <p:nvSpPr>
          <p:cNvPr id="13" name="TextBox 12"/>
          <p:cNvSpPr txBox="1"/>
          <p:nvPr/>
        </p:nvSpPr>
        <p:spPr>
          <a:xfrm>
            <a:off x="6309360" y="2697480"/>
            <a:ext cx="2286000" cy="685800"/>
          </a:xfrm>
          <a:prstGeom prst="rect">
            <a:avLst/>
          </a:prstGeom>
          <a:noFill/>
        </p:spPr>
        <p:txBody>
          <a:bodyPr wrap="square" anchor="t" lIns="0" rIns="0" tIns="0" bIns="0">
            <a:spAutoFit/>
          </a:bodyPr>
          <a:lstStyle/>
          <a:p>
            <a:pPr algn="l">
              <a:spcAft>
                <a:spcPts val="0"/>
              </a:spcAft>
            </a:pPr>
            <a:r>
              <a:rPr sz="1200" b="0" i="0">
                <a:solidFill>
                  <a:srgbClr val="BFD7DC"/>
                </a:solidFill>
                <a:latin typeface="Calibri"/>
              </a:rPr>
              <a:t>FastAPI · sign-in · roles</a:t>
            </a:r>
          </a:p>
          <a:p>
            <a:pPr algn="l">
              <a:spcAft>
                <a:spcPts val="0"/>
              </a:spcAft>
            </a:pPr>
            <a:r>
              <a:rPr sz="1200" b="0" i="0">
                <a:solidFill>
                  <a:srgbClr val="BFD7DC"/>
                </a:solidFill>
                <a:latin typeface="Calibri"/>
              </a:rPr>
              <a:t>audit · limits</a:t>
            </a:r>
          </a:p>
        </p:txBody>
      </p:sp>
      <p:sp>
        <p:nvSpPr>
          <p:cNvPr id="14" name="Local LLM"/>
          <p:cNvSpPr/>
          <p:nvPr/>
        </p:nvSpPr>
        <p:spPr>
          <a:xfrm>
            <a:off x="9235440" y="2148840"/>
            <a:ext cx="2130552" cy="132588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418320" y="2286000"/>
            <a:ext cx="1764792" cy="411480"/>
          </a:xfrm>
          <a:prstGeom prst="rect">
            <a:avLst/>
          </a:prstGeom>
          <a:noFill/>
        </p:spPr>
        <p:txBody>
          <a:bodyPr wrap="square" anchor="t" lIns="0" rIns="0" tIns="0" bIns="0">
            <a:spAutoFit/>
          </a:bodyPr>
          <a:lstStyle/>
          <a:p>
            <a:pPr algn="l">
              <a:spcAft>
                <a:spcPts val="600"/>
              </a:spcAft>
            </a:pPr>
            <a:r>
              <a:rPr sz="1600" b="1" i="0">
                <a:solidFill>
                  <a:srgbClr val="FFFFFF"/>
                </a:solidFill>
                <a:latin typeface="Calibri"/>
              </a:rPr>
              <a:t>Local LLM</a:t>
            </a:r>
          </a:p>
        </p:txBody>
      </p:sp>
      <p:sp>
        <p:nvSpPr>
          <p:cNvPr id="16" name="TextBox 15"/>
          <p:cNvSpPr txBox="1"/>
          <p:nvPr/>
        </p:nvSpPr>
        <p:spPr>
          <a:xfrm>
            <a:off x="9418320" y="2697480"/>
            <a:ext cx="1764792" cy="685800"/>
          </a:xfrm>
          <a:prstGeom prst="rect">
            <a:avLst/>
          </a:prstGeom>
          <a:noFill/>
        </p:spPr>
        <p:txBody>
          <a:bodyPr wrap="square" anchor="t" lIns="0" rIns="0" tIns="0" bIns="0">
            <a:spAutoFit/>
          </a:bodyPr>
          <a:lstStyle/>
          <a:p>
            <a:pPr algn="l">
              <a:spcAft>
                <a:spcPts val="0"/>
              </a:spcAft>
            </a:pPr>
            <a:r>
              <a:rPr sz="1200" b="0" i="0">
                <a:solidFill>
                  <a:srgbClr val="FFFFFF"/>
                </a:solidFill>
                <a:latin typeface="Calibri"/>
              </a:rPr>
              <a:t>Ollama · qwen3:4b</a:t>
            </a:r>
          </a:p>
          <a:p>
            <a:pPr algn="l">
              <a:spcAft>
                <a:spcPts val="0"/>
              </a:spcAft>
            </a:pPr>
            <a:r>
              <a:rPr sz="1200" b="0" i="0">
                <a:solidFill>
                  <a:srgbClr val="FFFFFF"/>
                </a:solidFill>
                <a:latin typeface="Calibri"/>
              </a:rPr>
              <a:t>local GPU</a:t>
            </a:r>
          </a:p>
        </p:txBody>
      </p:sp>
      <p:sp>
        <p:nvSpPr>
          <p:cNvPr id="17" name="Agent workflow"/>
          <p:cNvSpPr/>
          <p:nvPr/>
        </p:nvSpPr>
        <p:spPr>
          <a:xfrm>
            <a:off x="6126480" y="4206240"/>
            <a:ext cx="2651760" cy="173736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9360" y="4343400"/>
            <a:ext cx="2286000" cy="411480"/>
          </a:xfrm>
          <a:prstGeom prst="rect">
            <a:avLst/>
          </a:prstGeom>
          <a:noFill/>
        </p:spPr>
        <p:txBody>
          <a:bodyPr wrap="square" anchor="t" lIns="0" rIns="0" tIns="0" bIns="0">
            <a:spAutoFit/>
          </a:bodyPr>
          <a:lstStyle/>
          <a:p>
            <a:pPr algn="l">
              <a:spcAft>
                <a:spcPts val="600"/>
              </a:spcAft>
            </a:pPr>
            <a:r>
              <a:rPr sz="1600" b="1" i="0">
                <a:solidFill>
                  <a:srgbClr val="0F2E35"/>
                </a:solidFill>
                <a:latin typeface="Calibri"/>
              </a:rPr>
              <a:t>Agent workflow</a:t>
            </a:r>
          </a:p>
        </p:txBody>
      </p:sp>
      <p:sp>
        <p:nvSpPr>
          <p:cNvPr id="19" name="TextBox 18"/>
          <p:cNvSpPr txBox="1"/>
          <p:nvPr/>
        </p:nvSpPr>
        <p:spPr>
          <a:xfrm>
            <a:off x="6309360" y="4754880"/>
            <a:ext cx="2286000" cy="1097280"/>
          </a:xfrm>
          <a:prstGeom prst="rect">
            <a:avLst/>
          </a:prstGeom>
          <a:noFill/>
        </p:spPr>
        <p:txBody>
          <a:bodyPr wrap="square" anchor="t" lIns="0" rIns="0" tIns="0" bIns="0">
            <a:spAutoFit/>
          </a:bodyPr>
          <a:lstStyle/>
          <a:p>
            <a:pPr algn="l">
              <a:spcAft>
                <a:spcPts val="0"/>
              </a:spcAft>
            </a:pPr>
            <a:r>
              <a:rPr sz="1200" b="0" i="0">
                <a:solidFill>
                  <a:srgbClr val="5B6B70"/>
                </a:solidFill>
                <a:latin typeface="Calibri"/>
              </a:rPr>
              <a:t>LangGraph · 6 agents</a:t>
            </a:r>
          </a:p>
          <a:p>
            <a:pPr algn="l">
              <a:spcAft>
                <a:spcPts val="0"/>
              </a:spcAft>
            </a:pPr>
            <a:r>
              <a:rPr sz="1200" b="0" i="0">
                <a:solidFill>
                  <a:srgbClr val="5B6B70"/>
                </a:solidFill>
                <a:latin typeface="Calibri"/>
              </a:rPr>
              <a:t>checks every LLM sentence</a:t>
            </a:r>
          </a:p>
          <a:p>
            <a:pPr algn="l">
              <a:spcAft>
                <a:spcPts val="0"/>
              </a:spcAft>
            </a:pPr>
            <a:r>
              <a:rPr sz="1200" b="0" i="0">
                <a:solidFill>
                  <a:srgbClr val="5B6B70"/>
                </a:solidFill>
                <a:latin typeface="Calibri"/>
              </a:rPr>
              <a:t>checkpoint after each step</a:t>
            </a:r>
          </a:p>
        </p:txBody>
      </p:sp>
      <p:sp>
        <p:nvSpPr>
          <p:cNvPr id="20" name="payments schema"/>
          <p:cNvSpPr/>
          <p:nvPr/>
        </p:nvSpPr>
        <p:spPr>
          <a:xfrm>
            <a:off x="3291840" y="4206240"/>
            <a:ext cx="2377440" cy="173736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474720" y="4343400"/>
            <a:ext cx="2011680" cy="411480"/>
          </a:xfrm>
          <a:prstGeom prst="rect">
            <a:avLst/>
          </a:prstGeom>
          <a:noFill/>
        </p:spPr>
        <p:txBody>
          <a:bodyPr wrap="square" anchor="t" lIns="0" rIns="0" tIns="0" bIns="0">
            <a:spAutoFit/>
          </a:bodyPr>
          <a:lstStyle/>
          <a:p>
            <a:pPr algn="l">
              <a:spcAft>
                <a:spcPts val="600"/>
              </a:spcAft>
            </a:pPr>
            <a:r>
              <a:rPr sz="1600" b="1" i="0">
                <a:solidFill>
                  <a:srgbClr val="0F2E35"/>
                </a:solidFill>
                <a:latin typeface="Calibri"/>
              </a:rPr>
              <a:t>payments schema</a:t>
            </a:r>
          </a:p>
        </p:txBody>
      </p:sp>
      <p:sp>
        <p:nvSpPr>
          <p:cNvPr id="22" name="TextBox 21"/>
          <p:cNvSpPr txBox="1"/>
          <p:nvPr/>
        </p:nvSpPr>
        <p:spPr>
          <a:xfrm>
            <a:off x="3474720" y="4754880"/>
            <a:ext cx="2011680" cy="1097280"/>
          </a:xfrm>
          <a:prstGeom prst="rect">
            <a:avLst/>
          </a:prstGeom>
          <a:noFill/>
        </p:spPr>
        <p:txBody>
          <a:bodyPr wrap="square" anchor="t" lIns="0" rIns="0" tIns="0" bIns="0">
            <a:spAutoFit/>
          </a:bodyPr>
          <a:lstStyle/>
          <a:p>
            <a:pPr algn="l">
              <a:spcAft>
                <a:spcPts val="0"/>
              </a:spcAft>
            </a:pPr>
            <a:r>
              <a:rPr sz="1200" b="0" i="0">
                <a:solidFill>
                  <a:srgbClr val="5B6B70"/>
                </a:solidFill>
                <a:latin typeface="Calibri"/>
              </a:rPr>
              <a:t>PostgreSQL 16</a:t>
            </a:r>
          </a:p>
          <a:p>
            <a:pPr algn="l">
              <a:spcAft>
                <a:spcPts val="0"/>
              </a:spcAft>
            </a:pPr>
            <a:r>
              <a:rPr sz="1200" b="0" i="0">
                <a:solidFill>
                  <a:srgbClr val="5B6B70"/>
                </a:solidFill>
                <a:latin typeface="Calibri"/>
              </a:rPr>
              <a:t>read-only login</a:t>
            </a:r>
          </a:p>
          <a:p>
            <a:pPr algn="l">
              <a:spcAft>
                <a:spcPts val="0"/>
              </a:spcAft>
            </a:pPr>
            <a:r>
              <a:rPr sz="1200" b="0" i="0">
                <a:solidFill>
                  <a:srgbClr val="5B6B70"/>
                </a:solidFill>
                <a:latin typeface="Calibri"/>
              </a:rPr>
              <a:t>(agents, analytics)</a:t>
            </a:r>
          </a:p>
        </p:txBody>
      </p:sp>
      <p:sp>
        <p:nvSpPr>
          <p:cNvPr id="23" name="ops schema"/>
          <p:cNvSpPr/>
          <p:nvPr/>
        </p:nvSpPr>
        <p:spPr>
          <a:xfrm>
            <a:off x="9235440" y="4206240"/>
            <a:ext cx="2130552" cy="173736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18320" y="4343400"/>
            <a:ext cx="1764792" cy="411480"/>
          </a:xfrm>
          <a:prstGeom prst="rect">
            <a:avLst/>
          </a:prstGeom>
          <a:noFill/>
        </p:spPr>
        <p:txBody>
          <a:bodyPr wrap="square" anchor="t" lIns="0" rIns="0" tIns="0" bIns="0">
            <a:spAutoFit/>
          </a:bodyPr>
          <a:lstStyle/>
          <a:p>
            <a:pPr algn="l">
              <a:spcAft>
                <a:spcPts val="600"/>
              </a:spcAft>
            </a:pPr>
            <a:r>
              <a:rPr sz="1600" b="1" i="0">
                <a:solidFill>
                  <a:srgbClr val="0F2E35"/>
                </a:solidFill>
                <a:latin typeface="Calibri"/>
              </a:rPr>
              <a:t>ops schema</a:t>
            </a:r>
          </a:p>
        </p:txBody>
      </p:sp>
      <p:sp>
        <p:nvSpPr>
          <p:cNvPr id="25" name="TextBox 24"/>
          <p:cNvSpPr txBox="1"/>
          <p:nvPr/>
        </p:nvSpPr>
        <p:spPr>
          <a:xfrm>
            <a:off x="9418320" y="4754880"/>
            <a:ext cx="1764792" cy="1097280"/>
          </a:xfrm>
          <a:prstGeom prst="rect">
            <a:avLst/>
          </a:prstGeom>
          <a:noFill/>
        </p:spPr>
        <p:txBody>
          <a:bodyPr wrap="square" anchor="t" lIns="0" rIns="0" tIns="0" bIns="0">
            <a:spAutoFit/>
          </a:bodyPr>
          <a:lstStyle/>
          <a:p>
            <a:pPr algn="l">
              <a:spcAft>
                <a:spcPts val="0"/>
              </a:spcAft>
            </a:pPr>
            <a:r>
              <a:rPr sz="1200" b="0" i="0">
                <a:solidFill>
                  <a:srgbClr val="5B6B70"/>
                </a:solidFill>
                <a:latin typeface="Calibri"/>
              </a:rPr>
              <a:t>PostgreSQL 16 · app login</a:t>
            </a:r>
          </a:p>
          <a:p>
            <a:pPr algn="l">
              <a:spcAft>
                <a:spcPts val="0"/>
              </a:spcAft>
            </a:pPr>
            <a:r>
              <a:rPr sz="1200" b="0" i="0">
                <a:solidFill>
                  <a:srgbClr val="5B6B70"/>
                </a:solidFill>
                <a:latin typeface="Calibri"/>
              </a:rPr>
              <a:t>history, checkpoints</a:t>
            </a:r>
          </a:p>
          <a:p>
            <a:pPr algn="l">
              <a:spcAft>
                <a:spcPts val="0"/>
              </a:spcAft>
            </a:pPr>
            <a:r>
              <a:rPr sz="1200" b="0" i="0">
                <a:solidFill>
                  <a:srgbClr val="5B6B70"/>
                </a:solidFill>
                <a:latin typeface="Calibri"/>
              </a:rPr>
              <a:t>accounts, audit log</a:t>
            </a:r>
          </a:p>
        </p:txBody>
      </p:sp>
      <p:cxnSp>
        <p:nvCxnSpPr>
          <p:cNvPr id="26" name="Connector 25"/>
          <p:cNvCxnSpPr/>
          <p:nvPr/>
        </p:nvCxnSpPr>
        <p:spPr>
          <a:xfrm>
            <a:off x="2834640" y="2811780"/>
            <a:ext cx="457200"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69280" y="2811780"/>
            <a:ext cx="457200"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78240" y="2811780"/>
            <a:ext cx="457200"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52360" y="3474720"/>
            <a:ext cx="0" cy="73152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669280" y="5074920"/>
            <a:ext cx="457200"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778240" y="5074920"/>
            <a:ext cx="457200" cy="0"/>
          </a:xfrm>
          <a:prstGeom prst="line">
            <a:avLst/>
          </a:prstGeom>
          <a:ln w="22225">
            <a:solidFill>
              <a:srgbClr val="5B6B7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4297680"/>
            <a:ext cx="2194560" cy="17373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Not connected:</a:t>
            </a:r>
          </a:p>
          <a:p>
            <a:pPr algn="l">
              <a:spcAft>
                <a:spcPts val="600"/>
              </a:spcAft>
            </a:pPr>
            <a:r>
              <a:rPr sz="1300" b="0" i="0">
                <a:solidFill>
                  <a:srgbClr val="5B6B70"/>
                </a:solidFill>
                <a:latin typeface="Calibri"/>
              </a:rPr>
              <a:t>cloud LLMs, API keys, telemetry, external identity providers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Six agents, each with a narrow job</a:t>
            </a:r>
          </a:p>
        </p:txBody>
      </p:sp>
      <p:sp>
        <p:nvSpPr>
          <p:cNvPr id="3" name="Rounded Rectangle 2"/>
          <p:cNvSpPr/>
          <p:nvPr/>
        </p:nvSpPr>
        <p:spPr>
          <a:xfrm>
            <a:off x="548640" y="1463040"/>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77240" y="16916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1371600" y="1709928"/>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Operations Coordinator</a:t>
            </a:r>
          </a:p>
        </p:txBody>
      </p:sp>
      <p:sp>
        <p:nvSpPr>
          <p:cNvPr id="6" name="TextBox 5"/>
          <p:cNvSpPr txBox="1"/>
          <p:nvPr/>
        </p:nvSpPr>
        <p:spPr>
          <a:xfrm>
            <a:off x="777240" y="2331720"/>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plans, assembles, writes the report with the LLM</a:t>
            </a:r>
          </a:p>
        </p:txBody>
      </p:sp>
      <p:sp>
        <p:nvSpPr>
          <p:cNvPr id="7" name="TextBox 6"/>
          <p:cNvSpPr txBox="1"/>
          <p:nvPr/>
        </p:nvSpPr>
        <p:spPr>
          <a:xfrm>
            <a:off x="777240" y="3063240"/>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dataset window, providers</a:t>
            </a:r>
          </a:p>
        </p:txBody>
      </p:sp>
      <p:sp>
        <p:nvSpPr>
          <p:cNvPr id="8" name="Rounded Rectangle 7"/>
          <p:cNvSpPr/>
          <p:nvPr/>
        </p:nvSpPr>
        <p:spPr>
          <a:xfrm>
            <a:off x="4361688" y="1463040"/>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590288" y="16916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10" name="TextBox 9"/>
          <p:cNvSpPr txBox="1"/>
          <p:nvPr/>
        </p:nvSpPr>
        <p:spPr>
          <a:xfrm>
            <a:off x="5184648" y="1709928"/>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Transaction Intelligence</a:t>
            </a:r>
          </a:p>
        </p:txBody>
      </p:sp>
      <p:sp>
        <p:nvSpPr>
          <p:cNvPr id="11" name="TextBox 10"/>
          <p:cNvSpPr txBox="1"/>
          <p:nvPr/>
        </p:nvSpPr>
        <p:spPr>
          <a:xfrm>
            <a:off x="4590288" y="2331720"/>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this week vs last: rates, providers, reasons</a:t>
            </a:r>
          </a:p>
        </p:txBody>
      </p:sp>
      <p:sp>
        <p:nvSpPr>
          <p:cNvPr id="12" name="TextBox 11"/>
          <p:cNvSpPr txBox="1"/>
          <p:nvPr/>
        </p:nvSpPr>
        <p:spPr>
          <a:xfrm>
            <a:off x="4590288" y="3063240"/>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summary, breakdown</a:t>
            </a:r>
          </a:p>
        </p:txBody>
      </p:sp>
      <p:sp>
        <p:nvSpPr>
          <p:cNvPr id="13" name="Rounded Rectangle 12"/>
          <p:cNvSpPr/>
          <p:nvPr/>
        </p:nvSpPr>
        <p:spPr>
          <a:xfrm>
            <a:off x="8174736" y="1463040"/>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403336" y="16916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15" name="TextBox 14"/>
          <p:cNvSpPr txBox="1"/>
          <p:nvPr/>
        </p:nvSpPr>
        <p:spPr>
          <a:xfrm>
            <a:off x="8997696" y="1709928"/>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Pattern Investigation</a:t>
            </a:r>
          </a:p>
        </p:txBody>
      </p:sp>
      <p:sp>
        <p:nvSpPr>
          <p:cNvPr id="16" name="TextBox 15"/>
          <p:cNvSpPr txBox="1"/>
          <p:nvPr/>
        </p:nvSpPr>
        <p:spPr>
          <a:xfrm>
            <a:off x="8403336" y="2331720"/>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anomaly windows, nearby events, ranked hypotheses</a:t>
            </a:r>
          </a:p>
        </p:txBody>
      </p:sp>
      <p:sp>
        <p:nvSpPr>
          <p:cNvPr id="17" name="TextBox 16"/>
          <p:cNvSpPr txBox="1"/>
          <p:nvPr/>
        </p:nvSpPr>
        <p:spPr>
          <a:xfrm>
            <a:off x="8403336" y="3063240"/>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time series, events</a:t>
            </a:r>
          </a:p>
        </p:txBody>
      </p:sp>
      <p:sp>
        <p:nvSpPr>
          <p:cNvPr id="18" name="Rounded Rectangle 17"/>
          <p:cNvSpPr/>
          <p:nvPr/>
        </p:nvSpPr>
        <p:spPr>
          <a:xfrm>
            <a:off x="548640" y="3867912"/>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096512"/>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20" name="TextBox 19"/>
          <p:cNvSpPr txBox="1"/>
          <p:nvPr/>
        </p:nvSpPr>
        <p:spPr>
          <a:xfrm>
            <a:off x="1371600" y="4114800"/>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Forecasting</a:t>
            </a:r>
          </a:p>
        </p:txBody>
      </p:sp>
      <p:sp>
        <p:nvSpPr>
          <p:cNvPr id="21" name="TextBox 20"/>
          <p:cNvSpPr txBox="1"/>
          <p:nvPr/>
        </p:nvSpPr>
        <p:spPr>
          <a:xfrm>
            <a:off x="777240" y="4736592"/>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next week's volume and a normal failure rate</a:t>
            </a:r>
          </a:p>
        </p:txBody>
      </p:sp>
      <p:sp>
        <p:nvSpPr>
          <p:cNvPr id="22" name="TextBox 21"/>
          <p:cNvSpPr txBox="1"/>
          <p:nvPr/>
        </p:nvSpPr>
        <p:spPr>
          <a:xfrm>
            <a:off x="777240" y="5468112"/>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time series</a:t>
            </a:r>
          </a:p>
        </p:txBody>
      </p:sp>
      <p:sp>
        <p:nvSpPr>
          <p:cNvPr id="23" name="Rounded Rectangle 22"/>
          <p:cNvSpPr/>
          <p:nvPr/>
        </p:nvSpPr>
        <p:spPr>
          <a:xfrm>
            <a:off x="4361688" y="3867912"/>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590288" y="4096512"/>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25" name="TextBox 24"/>
          <p:cNvSpPr txBox="1"/>
          <p:nvPr/>
        </p:nvSpPr>
        <p:spPr>
          <a:xfrm>
            <a:off x="5184648" y="4114800"/>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Business Impact</a:t>
            </a:r>
          </a:p>
        </p:txBody>
      </p:sp>
      <p:sp>
        <p:nvSpPr>
          <p:cNvPr id="26" name="TextBox 25"/>
          <p:cNvSpPr txBox="1"/>
          <p:nvPr/>
        </p:nvSpPr>
        <p:spPr>
          <a:xfrm>
            <a:off x="4590288" y="4736592"/>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value at risk: measured, estimated, hypothetical</a:t>
            </a:r>
          </a:p>
        </p:txBody>
      </p:sp>
      <p:sp>
        <p:nvSpPr>
          <p:cNvPr id="27" name="TextBox 26"/>
          <p:cNvSpPr txBox="1"/>
          <p:nvPr/>
        </p:nvSpPr>
        <p:spPr>
          <a:xfrm>
            <a:off x="4590288" y="5468112"/>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summary</a:t>
            </a:r>
          </a:p>
        </p:txBody>
      </p:sp>
      <p:sp>
        <p:nvSpPr>
          <p:cNvPr id="28" name="Rounded Rectangle 27"/>
          <p:cNvSpPr/>
          <p:nvPr/>
        </p:nvSpPr>
        <p:spPr>
          <a:xfrm>
            <a:off x="8174736" y="3867912"/>
            <a:ext cx="3520440" cy="210312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403336" y="4096512"/>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30" name="TextBox 29"/>
          <p:cNvSpPr txBox="1"/>
          <p:nvPr/>
        </p:nvSpPr>
        <p:spPr>
          <a:xfrm>
            <a:off x="8997696" y="4114800"/>
            <a:ext cx="2514600" cy="457200"/>
          </a:xfrm>
          <a:prstGeom prst="rect">
            <a:avLst/>
          </a:prstGeom>
          <a:noFill/>
        </p:spPr>
        <p:txBody>
          <a:bodyPr wrap="square" anchor="t" lIns="0" rIns="0" tIns="0" bIns="0">
            <a:spAutoFit/>
          </a:bodyPr>
          <a:lstStyle/>
          <a:p>
            <a:pPr algn="l">
              <a:spcAft>
                <a:spcPts val="600"/>
              </a:spcAft>
            </a:pPr>
            <a:r>
              <a:rPr sz="1600" b="1" i="0">
                <a:solidFill>
                  <a:srgbClr val="1C2B30"/>
                </a:solidFill>
                <a:latin typeface="Calibri"/>
              </a:rPr>
              <a:t>Verification &amp; Policy</a:t>
            </a:r>
          </a:p>
        </p:txBody>
      </p:sp>
      <p:sp>
        <p:nvSpPr>
          <p:cNvPr id="31" name="TextBox 30"/>
          <p:cNvSpPr txBox="1"/>
          <p:nvPr/>
        </p:nvSpPr>
        <p:spPr>
          <a:xfrm>
            <a:off x="8403336" y="4736592"/>
            <a:ext cx="3063240" cy="73152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recomputes figures, checks every sentence</a:t>
            </a:r>
          </a:p>
        </p:txBody>
      </p:sp>
      <p:sp>
        <p:nvSpPr>
          <p:cNvPr id="32" name="TextBox 31"/>
          <p:cNvSpPr txBox="1"/>
          <p:nvPr/>
        </p:nvSpPr>
        <p:spPr>
          <a:xfrm>
            <a:off x="8403336" y="5468112"/>
            <a:ext cx="3063240" cy="365760"/>
          </a:xfrm>
          <a:prstGeom prst="rect">
            <a:avLst/>
          </a:prstGeom>
          <a:noFill/>
        </p:spPr>
        <p:txBody>
          <a:bodyPr wrap="square" anchor="t" lIns="0" rIns="0" tIns="0" bIns="0">
            <a:spAutoFit/>
          </a:bodyPr>
          <a:lstStyle/>
          <a:p>
            <a:pPr algn="l">
              <a:spcAft>
                <a:spcPts val="600"/>
              </a:spcAft>
            </a:pPr>
            <a:r>
              <a:rPr sz="1200" b="0" i="0">
                <a:solidFill>
                  <a:srgbClr val="5B6B70"/>
                </a:solidFill>
                <a:latin typeface="Calibri"/>
              </a:rPr>
              <a:t>tools: summary, breakdown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It found the hidden incident, and the timing</a:t>
            </a:r>
          </a:p>
        </p:txBody>
      </p:sp>
      <p:graphicFrame>
        <p:nvGraphicFramePr>
          <p:cNvPr id="3" name="Chart 2"/>
          <p:cNvGraphicFramePr>
            <a:graphicFrameLocks noGrp="1"/>
          </p:cNvGraphicFramePr>
          <p:nvPr/>
        </p:nvGraphicFramePr>
        <p:xfrm>
          <a:off x="548640" y="1463040"/>
          <a:ext cx="6400800" cy="4754880"/>
        </p:xfrm>
        <a:graphic>
          <a:graphicData uri="http://schemas.openxmlformats.org/drawingml/2006/chart">
            <c:chart xmlns:c="http://schemas.openxmlformats.org/drawingml/2006/chart" r:id="rId3"/>
          </a:graphicData>
        </a:graphic>
      </p:graphicFrame>
      <p:sp>
        <p:nvSpPr>
          <p:cNvPr id="4" name="TextBox 3"/>
          <p:cNvSpPr txBox="1"/>
          <p:nvPr/>
        </p:nvSpPr>
        <p:spPr>
          <a:xfrm>
            <a:off x="7406640" y="1554480"/>
            <a:ext cx="4206240" cy="731520"/>
          </a:xfrm>
          <a:prstGeom prst="rect">
            <a:avLst/>
          </a:prstGeom>
          <a:noFill/>
        </p:spPr>
        <p:txBody>
          <a:bodyPr wrap="square" anchor="t" lIns="0" rIns="0" tIns="0" bIns="0">
            <a:spAutoFit/>
          </a:bodyPr>
          <a:lstStyle/>
          <a:p>
            <a:pPr algn="l">
              <a:spcAft>
                <a:spcPts val="600"/>
              </a:spcAft>
            </a:pPr>
            <a:r>
              <a:rPr sz="4400" b="1" i="0">
                <a:solidFill>
                  <a:srgbClr val="EB6834"/>
                </a:solidFill>
                <a:latin typeface="Cambria"/>
              </a:rPr>
              <a:t>98%</a:t>
            </a:r>
          </a:p>
        </p:txBody>
      </p:sp>
      <p:sp>
        <p:nvSpPr>
          <p:cNvPr id="5" name="TextBox 4"/>
          <p:cNvSpPr txBox="1"/>
          <p:nvPr/>
        </p:nvSpPr>
        <p:spPr>
          <a:xfrm>
            <a:off x="7406640" y="2331720"/>
            <a:ext cx="42062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of the extra failures were at KESTREL</a:t>
            </a:r>
          </a:p>
        </p:txBody>
      </p:sp>
      <p:sp>
        <p:nvSpPr>
          <p:cNvPr id="6" name="TextBox 5"/>
          <p:cNvSpPr txBox="1"/>
          <p:nvPr/>
        </p:nvSpPr>
        <p:spPr>
          <a:xfrm>
            <a:off x="7406640" y="2971800"/>
            <a:ext cx="42062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87%</a:t>
            </a:r>
          </a:p>
        </p:txBody>
      </p:sp>
      <p:sp>
        <p:nvSpPr>
          <p:cNvPr id="7" name="TextBox 6"/>
          <p:cNvSpPr txBox="1"/>
          <p:nvPr/>
        </p:nvSpPr>
        <p:spPr>
          <a:xfrm>
            <a:off x="7406640" y="3749040"/>
            <a:ext cx="42062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of failures in the window were TIMEOUT</a:t>
            </a:r>
          </a:p>
        </p:txBody>
      </p:sp>
      <p:sp>
        <p:nvSpPr>
          <p:cNvPr id="8" name="TextBox 7"/>
          <p:cNvSpPr txBox="1"/>
          <p:nvPr/>
        </p:nvSpPr>
        <p:spPr>
          <a:xfrm>
            <a:off x="7406640" y="4389120"/>
            <a:ext cx="42062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0 h / 1 h</a:t>
            </a:r>
          </a:p>
        </p:txBody>
      </p:sp>
      <p:sp>
        <p:nvSpPr>
          <p:cNvPr id="9" name="TextBox 8"/>
          <p:cNvSpPr txBox="1"/>
          <p:nvPr/>
        </p:nvSpPr>
        <p:spPr>
          <a:xfrm>
            <a:off x="7406640" y="5166360"/>
            <a:ext cx="42062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window start / end vs the injected incident</a:t>
            </a:r>
          </a:p>
        </p:txBody>
      </p:sp>
      <p:sp>
        <p:nvSpPr>
          <p:cNvPr id="10" name="TextBox 9"/>
          <p:cNvSpPr txBox="1"/>
          <p:nvPr/>
        </p:nvSpPr>
        <p:spPr>
          <a:xfrm>
            <a:off x="7406640" y="5989320"/>
            <a:ext cx="4206240" cy="457200"/>
          </a:xfrm>
          <a:prstGeom prst="rect">
            <a:avLst/>
          </a:prstGeom>
          <a:noFill/>
        </p:spPr>
        <p:txBody>
          <a:bodyPr wrap="square" anchor="t" lIns="0" rIns="0" tIns="0" bIns="0">
            <a:spAutoFit/>
          </a:bodyPr>
          <a:lstStyle/>
          <a:p>
            <a:pPr algn="l">
              <a:spcAft>
                <a:spcPts val="600"/>
              </a:spcAft>
            </a:pPr>
            <a:r>
              <a:rPr sz="1100" b="0" i="0">
                <a:solidFill>
                  <a:srgbClr val="5B6B70"/>
                </a:solidFill>
                <a:latin typeface="Calibri"/>
              </a:rPr>
              <a:t>Source: docs/evaluation.md (seed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Hypotheses are ranked, never declared proven</a:t>
            </a:r>
          </a:p>
        </p:txBody>
      </p:sp>
      <p:sp>
        <p:nvSpPr>
          <p:cNvPr id="3" name="Rounded Rectangle 2"/>
          <p:cNvSpPr/>
          <p:nvPr/>
        </p:nvSpPr>
        <p:spPr>
          <a:xfrm>
            <a:off x="548640" y="1463040"/>
            <a:ext cx="5394960" cy="42062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73736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a:t>
            </a:r>
          </a:p>
        </p:txBody>
      </p:sp>
      <p:sp>
        <p:nvSpPr>
          <p:cNvPr id="5" name="TextBox 4"/>
          <p:cNvSpPr txBox="1"/>
          <p:nvPr/>
        </p:nvSpPr>
        <p:spPr>
          <a:xfrm>
            <a:off x="1554480" y="1719072"/>
            <a:ext cx="411480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Provider-side problem at KESTREL</a:t>
            </a:r>
          </a:p>
        </p:txBody>
      </p:sp>
      <p:sp>
        <p:nvSpPr>
          <p:cNvPr id="6" name="TextBox 5"/>
          <p:cNvSpPr txBox="1"/>
          <p:nvPr/>
        </p:nvSpPr>
        <p:spPr>
          <a:xfrm>
            <a:off x="1554480" y="2194560"/>
            <a:ext cx="4114800" cy="365760"/>
          </a:xfrm>
          <a:prstGeom prst="rect">
            <a:avLst/>
          </a:prstGeom>
          <a:noFill/>
        </p:spPr>
        <p:txBody>
          <a:bodyPr wrap="square" anchor="t" lIns="0" rIns="0" tIns="0" bIns="0">
            <a:spAutoFit/>
          </a:bodyPr>
          <a:lstStyle/>
          <a:p>
            <a:pPr algn="l">
              <a:spcAft>
                <a:spcPts val="600"/>
              </a:spcAft>
            </a:pPr>
            <a:r>
              <a:rPr sz="1400" b="1" i="0">
                <a:solidFill>
                  <a:srgbClr val="EB6834"/>
                </a:solidFill>
                <a:latin typeface="Calibri"/>
              </a:rPr>
              <a:t>score 6 · leading (unconfirmed)</a:t>
            </a:r>
          </a:p>
        </p:txBody>
      </p:sp>
      <p:sp>
        <p:nvSpPr>
          <p:cNvPr id="7" name="TextBox 6"/>
          <p:cNvSpPr txBox="1"/>
          <p:nvPr/>
        </p:nvSpPr>
        <p:spPr>
          <a:xfrm>
            <a:off x="914400" y="2880360"/>
            <a:ext cx="4663440" cy="2651760"/>
          </a:xfrm>
          <a:prstGeom prst="rect">
            <a:avLst/>
          </a:prstGeom>
          <a:noFill/>
        </p:spPr>
        <p:txBody>
          <a:bodyPr wrap="square" anchor="t" lIns="0" rIns="0" tIns="0" bIns="0">
            <a:spAutoFit/>
          </a:bodyPr>
          <a:lstStyle/>
          <a:p>
            <a:pPr algn="l">
              <a:spcAft>
                <a:spcPts val="800"/>
              </a:spcAft>
            </a:pPr>
            <a:r>
              <a:rPr sz="1500" b="0" i="0">
                <a:solidFill>
                  <a:srgbClr val="1C2B30"/>
                </a:solidFill>
                <a:latin typeface="Calibri"/>
              </a:rPr>
              <a:t>+ only KESTREL shows an anomaly</a:t>
            </a:r>
          </a:p>
          <a:p>
            <a:pPr algn="l">
              <a:spcAft>
                <a:spcPts val="800"/>
              </a:spcAft>
            </a:pPr>
            <a:r>
              <a:rPr sz="1500" b="0" i="0">
                <a:solidFill>
                  <a:srgbClr val="1C2B30"/>
                </a:solidFill>
                <a:latin typeface="Calibri"/>
              </a:rPr>
              <a:t>+ 87% of window failures are TIMEOUT</a:t>
            </a:r>
          </a:p>
          <a:p>
            <a:pPr algn="l">
              <a:spcAft>
                <a:spcPts val="800"/>
              </a:spcAft>
            </a:pPr>
            <a:r>
              <a:rPr sz="1500" b="0" i="0">
                <a:solidFill>
                  <a:srgbClr val="1C2B30"/>
                </a:solidFill>
                <a:latin typeface="Calibri"/>
              </a:rPr>
              <a:t>+ KESTREL posted a notice 3 h after the start</a:t>
            </a:r>
          </a:p>
          <a:p>
            <a:pPr algn="l">
              <a:spcAft>
                <a:spcPts val="800"/>
              </a:spcAft>
            </a:pPr>
            <a:r>
              <a:rPr sz="1500" b="0" i="0">
                <a:solidFill>
                  <a:srgbClr val="1C2B30"/>
                </a:solidFill>
                <a:latin typeface="Calibri"/>
              </a:rPr>
              <a:t>+ after DEP-0026 only KESTREL got worse</a:t>
            </a:r>
          </a:p>
          <a:p>
            <a:pPr algn="l">
              <a:spcAft>
                <a:spcPts val="800"/>
              </a:spcAft>
            </a:pPr>
            <a:r>
              <a:rPr sz="1500" b="0" i="0">
                <a:solidFill>
                  <a:srgbClr val="1C2B30"/>
                </a:solidFill>
                <a:latin typeface="Calibri"/>
              </a:rPr>
              <a:t>next: ask KESTREL for their incident report</a:t>
            </a:r>
          </a:p>
        </p:txBody>
      </p:sp>
      <p:sp>
        <p:nvSpPr>
          <p:cNvPr id="8" name="Rounded Rectangle 7"/>
          <p:cNvSpPr/>
          <p:nvPr/>
        </p:nvSpPr>
        <p:spPr>
          <a:xfrm>
            <a:off x="6245352" y="1463040"/>
            <a:ext cx="5394960" cy="420624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519672"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a:t>
            </a:r>
          </a:p>
        </p:txBody>
      </p:sp>
      <p:sp>
        <p:nvSpPr>
          <p:cNvPr id="10" name="TextBox 9"/>
          <p:cNvSpPr txBox="1"/>
          <p:nvPr/>
        </p:nvSpPr>
        <p:spPr>
          <a:xfrm>
            <a:off x="7251192" y="1719072"/>
            <a:ext cx="4114800" cy="457200"/>
          </a:xfrm>
          <a:prstGeom prst="rect">
            <a:avLst/>
          </a:prstGeom>
          <a:noFill/>
        </p:spPr>
        <p:txBody>
          <a:bodyPr wrap="square" anchor="t" lIns="0" rIns="0" tIns="0" bIns="0">
            <a:spAutoFit/>
          </a:bodyPr>
          <a:lstStyle/>
          <a:p>
            <a:pPr algn="l">
              <a:spcAft>
                <a:spcPts val="600"/>
              </a:spcAft>
            </a:pPr>
            <a:r>
              <a:rPr sz="1900" b="1" i="0">
                <a:solidFill>
                  <a:srgbClr val="1C2B30"/>
                </a:solidFill>
                <a:latin typeface="Calibri"/>
              </a:rPr>
              <a:t>Our deployment DEP-0026</a:t>
            </a:r>
          </a:p>
        </p:txBody>
      </p:sp>
      <p:sp>
        <p:nvSpPr>
          <p:cNvPr id="11" name="TextBox 10"/>
          <p:cNvSpPr txBox="1"/>
          <p:nvPr/>
        </p:nvSpPr>
        <p:spPr>
          <a:xfrm>
            <a:off x="7251192" y="2194560"/>
            <a:ext cx="4114800" cy="365760"/>
          </a:xfrm>
          <a:prstGeom prst="rect">
            <a:avLst/>
          </a:prstGeom>
          <a:noFill/>
        </p:spPr>
        <p:txBody>
          <a:bodyPr wrap="square" anchor="t" lIns="0" rIns="0" tIns="0" bIns="0">
            <a:spAutoFit/>
          </a:bodyPr>
          <a:lstStyle/>
          <a:p>
            <a:pPr algn="l">
              <a:spcAft>
                <a:spcPts val="600"/>
              </a:spcAft>
            </a:pPr>
            <a:r>
              <a:rPr sz="1400" b="1" i="0">
                <a:solidFill>
                  <a:srgbClr val="0F2E35"/>
                </a:solidFill>
                <a:latin typeface="Calibri"/>
              </a:rPr>
              <a:t>score 0 · unlikely</a:t>
            </a:r>
          </a:p>
        </p:txBody>
      </p:sp>
      <p:sp>
        <p:nvSpPr>
          <p:cNvPr id="12" name="TextBox 11"/>
          <p:cNvSpPr txBox="1"/>
          <p:nvPr/>
        </p:nvSpPr>
        <p:spPr>
          <a:xfrm>
            <a:off x="6611112" y="2880360"/>
            <a:ext cx="4663440" cy="2651760"/>
          </a:xfrm>
          <a:prstGeom prst="rect">
            <a:avLst/>
          </a:prstGeom>
          <a:noFill/>
        </p:spPr>
        <p:txBody>
          <a:bodyPr wrap="square" anchor="t" lIns="0" rIns="0" tIns="0" bIns="0">
            <a:spAutoFit/>
          </a:bodyPr>
          <a:lstStyle/>
          <a:p>
            <a:pPr algn="l">
              <a:spcAft>
                <a:spcPts val="800"/>
              </a:spcAft>
            </a:pPr>
            <a:r>
              <a:rPr sz="1500" b="0" i="0">
                <a:solidFill>
                  <a:srgbClr val="1C2B30"/>
                </a:solidFill>
                <a:latin typeface="Calibri"/>
              </a:rPr>
              <a:t>+ deployed 2 h before the anomaly</a:t>
            </a:r>
          </a:p>
          <a:p>
            <a:pPr algn="l">
              <a:spcAft>
                <a:spcPts val="800"/>
              </a:spcAft>
            </a:pPr>
            <a:r>
              <a:rPr sz="1500" b="0" i="0">
                <a:solidFill>
                  <a:srgbClr val="1C2B30"/>
                </a:solidFill>
                <a:latin typeface="Calibri"/>
              </a:rPr>
              <a:t>− only KESTREL got worse; our software</a:t>
            </a:r>
          </a:p>
          <a:p>
            <a:pPr algn="l">
              <a:spcAft>
                <a:spcPts val="800"/>
              </a:spcAft>
            </a:pPr>
            <a:r>
              <a:rPr sz="1500" b="0" i="0">
                <a:solidFill>
                  <a:srgbClr val="1C2B30"/>
                </a:solidFill>
                <a:latin typeface="Calibri"/>
              </a:rPr>
              <a:t>   serves all four providers</a:t>
            </a:r>
          </a:p>
          <a:p>
            <a:pPr algn="l">
              <a:spcAft>
                <a:spcPts val="800"/>
              </a:spcAft>
            </a:pPr>
            <a:r>
              <a:rPr sz="1500" b="0" i="0">
                <a:solidFill>
                  <a:srgbClr val="1C2B30"/>
                </a:solidFill>
                <a:latin typeface="Calibri"/>
              </a:rPr>
              <a:t>timing overlap is not evidence of cause</a:t>
            </a:r>
          </a:p>
          <a:p>
            <a:pPr algn="l">
              <a:spcAft>
                <a:spcPts val="800"/>
              </a:spcAft>
            </a:pPr>
            <a:r>
              <a:rPr sz="1500" b="0" i="0">
                <a:solidFill>
                  <a:srgbClr val="1C2B30"/>
                </a:solidFill>
                <a:latin typeface="Calibri"/>
              </a:rPr>
              <a:t>next: review the change and its logs</a:t>
            </a:r>
          </a:p>
        </p:txBody>
      </p:sp>
      <p:sp>
        <p:nvSpPr>
          <p:cNvPr id="13" name="TextBox 12"/>
          <p:cNvSpPr txBox="1"/>
          <p:nvPr/>
        </p:nvSpPr>
        <p:spPr>
          <a:xfrm>
            <a:off x="548640" y="5852160"/>
            <a:ext cx="10972800" cy="457200"/>
          </a:xfrm>
          <a:prstGeom prst="rect">
            <a:avLst/>
          </a:prstGeom>
          <a:noFill/>
        </p:spPr>
        <p:txBody>
          <a:bodyPr wrap="square" anchor="t" lIns="0" rIns="0" tIns="0" bIns="0">
            <a:spAutoFit/>
          </a:bodyPr>
          <a:lstStyle/>
          <a:p>
            <a:pPr algn="l">
              <a:spcAft>
                <a:spcPts val="600"/>
              </a:spcAft>
            </a:pPr>
            <a:r>
              <a:rPr sz="1400" b="0" i="0">
                <a:solidFill>
                  <a:srgbClr val="5B6B70"/>
                </a:solidFill>
                <a:latin typeface="Calibri"/>
              </a:rPr>
              <a:t>Ground truth: KESTREL timeouts injected; DEP-0026 is a deliberate red herring. Both ranked correctly.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Every sentence the LLM writes is checked</a:t>
            </a:r>
          </a:p>
        </p:txBody>
      </p:sp>
      <p:sp>
        <p:nvSpPr>
          <p:cNvPr id="3" name="Oval 2"/>
          <p:cNvSpPr/>
          <p:nvPr/>
        </p:nvSpPr>
        <p:spPr>
          <a:xfrm>
            <a:off x="548640" y="146304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4" name="TextBox 3"/>
          <p:cNvSpPr txBox="1"/>
          <p:nvPr/>
        </p:nvSpPr>
        <p:spPr>
          <a:xfrm>
            <a:off x="1188720" y="1444752"/>
            <a:ext cx="5760720" cy="77724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Cites a real finding</a:t>
            </a:r>
          </a:p>
          <a:p>
            <a:pPr algn="l">
              <a:spcAft>
                <a:spcPts val="0"/>
              </a:spcAft>
            </a:pPr>
            <a:r>
              <a:rPr sz="1400" b="0" i="0">
                <a:solidFill>
                  <a:srgbClr val="5B6B70"/>
                </a:solidFill>
                <a:latin typeface="Calibri"/>
              </a:rPr>
              <a:t>every sentence names the IDs it is based on</a:t>
            </a:r>
          </a:p>
        </p:txBody>
      </p:sp>
      <p:sp>
        <p:nvSpPr>
          <p:cNvPr id="5" name="Oval 4"/>
          <p:cNvSpPr/>
          <p:nvPr/>
        </p:nvSpPr>
        <p:spPr>
          <a:xfrm>
            <a:off x="548640" y="233172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6" name="TextBox 5"/>
          <p:cNvSpPr txBox="1"/>
          <p:nvPr/>
        </p:nvSpPr>
        <p:spPr>
          <a:xfrm>
            <a:off x="1188720" y="2313432"/>
            <a:ext cx="5760720" cy="77724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Numbers match</a:t>
            </a:r>
          </a:p>
          <a:p>
            <a:pPr algn="l">
              <a:spcAft>
                <a:spcPts val="0"/>
              </a:spcAft>
            </a:pPr>
            <a:r>
              <a:rPr sz="1400" b="0" i="0">
                <a:solidFill>
                  <a:srgbClr val="5B6B70"/>
                </a:solidFill>
                <a:latin typeface="Calibri"/>
              </a:rPr>
              <a:t>each number appears in the finding it cites</a:t>
            </a:r>
          </a:p>
        </p:txBody>
      </p:sp>
      <p:sp>
        <p:nvSpPr>
          <p:cNvPr id="7" name="Oval 6"/>
          <p:cNvSpPr/>
          <p:nvPr/>
        </p:nvSpPr>
        <p:spPr>
          <a:xfrm>
            <a:off x="548640" y="320040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8" name="TextBox 7"/>
          <p:cNvSpPr txBox="1"/>
          <p:nvPr/>
        </p:nvSpPr>
        <p:spPr>
          <a:xfrm>
            <a:off x="1188720" y="3182112"/>
            <a:ext cx="5760720" cy="77724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Dates are in scope</a:t>
            </a:r>
          </a:p>
          <a:p>
            <a:pPr algn="l">
              <a:spcAft>
                <a:spcPts val="0"/>
              </a:spcAft>
            </a:pPr>
            <a:r>
              <a:rPr sz="1400" b="0" i="0">
                <a:solidFill>
                  <a:srgbClr val="5B6B70"/>
                </a:solidFill>
                <a:latin typeface="Calibri"/>
              </a:rPr>
              <a:t>only the investigated weeks or dates in findings</a:t>
            </a:r>
          </a:p>
        </p:txBody>
      </p:sp>
      <p:sp>
        <p:nvSpPr>
          <p:cNvPr id="9" name="Oval 8"/>
          <p:cNvSpPr/>
          <p:nvPr/>
        </p:nvSpPr>
        <p:spPr>
          <a:xfrm>
            <a:off x="548640" y="406908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10" name="TextBox 9"/>
          <p:cNvSpPr txBox="1"/>
          <p:nvPr/>
        </p:nvSpPr>
        <p:spPr>
          <a:xfrm>
            <a:off x="1188720" y="4050792"/>
            <a:ext cx="5760720" cy="77724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No overclaiming</a:t>
            </a:r>
          </a:p>
          <a:p>
            <a:pPr algn="l">
              <a:spcAft>
                <a:spcPts val="0"/>
              </a:spcAft>
            </a:pPr>
            <a:r>
              <a:rPr sz="1400" b="0" i="0">
                <a:solidFill>
                  <a:srgbClr val="5B6B70"/>
                </a:solidFill>
                <a:latin typeface="Calibri"/>
              </a:rPr>
              <a:t>'caused', 'proves', 'root cause' removed unless hedged</a:t>
            </a:r>
          </a:p>
        </p:txBody>
      </p:sp>
      <p:sp>
        <p:nvSpPr>
          <p:cNvPr id="11" name="Oval 10"/>
          <p:cNvSpPr/>
          <p:nvPr/>
        </p:nvSpPr>
        <p:spPr>
          <a:xfrm>
            <a:off x="548640" y="493776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12" name="TextBox 11"/>
          <p:cNvSpPr txBox="1"/>
          <p:nvPr/>
        </p:nvSpPr>
        <p:spPr>
          <a:xfrm>
            <a:off x="1188720" y="4919472"/>
            <a:ext cx="5760720" cy="777240"/>
          </a:xfrm>
          <a:prstGeom prst="rect">
            <a:avLst/>
          </a:prstGeom>
          <a:noFill/>
        </p:spPr>
        <p:txBody>
          <a:bodyPr wrap="square" anchor="t" lIns="0" rIns="0" tIns="0" bIns="0">
            <a:spAutoFit/>
          </a:bodyPr>
          <a:lstStyle/>
          <a:p>
            <a:pPr algn="l">
              <a:spcAft>
                <a:spcPts val="0"/>
              </a:spcAft>
            </a:pPr>
            <a:r>
              <a:rPr sz="1700" b="1" i="0">
                <a:solidFill>
                  <a:srgbClr val="1C2B30"/>
                </a:solidFill>
                <a:latin typeface="Calibri"/>
              </a:rPr>
              <a:t>Figures recomputed</a:t>
            </a:r>
          </a:p>
          <a:p>
            <a:pPr algn="l">
              <a:spcAft>
                <a:spcPts val="0"/>
              </a:spcAft>
            </a:pPr>
            <a:r>
              <a:rPr sz="1400" b="0" i="0">
                <a:solidFill>
                  <a:srgbClr val="5B6B70"/>
                </a:solidFill>
                <a:latin typeface="Calibri"/>
              </a:rPr>
              <a:t>rates, window counts, value re-queried from the database</a:t>
            </a:r>
          </a:p>
        </p:txBody>
      </p:sp>
      <p:sp>
        <p:nvSpPr>
          <p:cNvPr id="13" name="Rounded Rectangle 12"/>
          <p:cNvSpPr/>
          <p:nvPr/>
        </p:nvSpPr>
        <p:spPr>
          <a:xfrm>
            <a:off x="7315200" y="1463040"/>
            <a:ext cx="4325112" cy="4251960"/>
          </a:xfrm>
          <a:prstGeom prst="roundRect">
            <a:avLst>
              <a:gd name="adj" fmla="val 8000"/>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0" y="1737360"/>
            <a:ext cx="3749039" cy="731520"/>
          </a:xfrm>
          <a:prstGeom prst="rect">
            <a:avLst/>
          </a:prstGeom>
          <a:noFill/>
        </p:spPr>
        <p:txBody>
          <a:bodyPr wrap="square" anchor="t" lIns="0" rIns="0" tIns="0" bIns="0">
            <a:spAutoFit/>
          </a:bodyPr>
          <a:lstStyle/>
          <a:p>
            <a:pPr algn="l">
              <a:spcAft>
                <a:spcPts val="600"/>
              </a:spcAft>
            </a:pPr>
            <a:r>
              <a:rPr sz="4400" b="1" i="0">
                <a:solidFill>
                  <a:srgbClr val="FFFFFF"/>
                </a:solidFill>
                <a:latin typeface="Cambria"/>
              </a:rPr>
              <a:t>93.8%</a:t>
            </a:r>
          </a:p>
        </p:txBody>
      </p:sp>
      <p:sp>
        <p:nvSpPr>
          <p:cNvPr id="15" name="TextBox 14"/>
          <p:cNvSpPr txBox="1"/>
          <p:nvPr/>
        </p:nvSpPr>
        <p:spPr>
          <a:xfrm>
            <a:off x="7680960" y="2514600"/>
            <a:ext cx="3749039" cy="548640"/>
          </a:xfrm>
          <a:prstGeom prst="rect">
            <a:avLst/>
          </a:prstGeom>
          <a:noFill/>
        </p:spPr>
        <p:txBody>
          <a:bodyPr wrap="square" anchor="t" lIns="0" rIns="0" tIns="0" bIns="0">
            <a:spAutoFit/>
          </a:bodyPr>
          <a:lstStyle/>
          <a:p>
            <a:pPr algn="l">
              <a:spcAft>
                <a:spcPts val="600"/>
              </a:spcAft>
            </a:pPr>
            <a:r>
              <a:rPr sz="1300" b="0" i="0">
                <a:solidFill>
                  <a:srgbClr val="BFD7DC"/>
                </a:solidFill>
                <a:latin typeface="Calibri"/>
              </a:rPr>
              <a:t>of LLM sentences kept (run 2)</a:t>
            </a:r>
          </a:p>
        </p:txBody>
      </p:sp>
      <p:sp>
        <p:nvSpPr>
          <p:cNvPr id="16" name="TextBox 15"/>
          <p:cNvSpPr txBox="1"/>
          <p:nvPr/>
        </p:nvSpPr>
        <p:spPr>
          <a:xfrm>
            <a:off x="7680960" y="3063240"/>
            <a:ext cx="3749039" cy="731520"/>
          </a:xfrm>
          <a:prstGeom prst="rect">
            <a:avLst/>
          </a:prstGeom>
          <a:noFill/>
        </p:spPr>
        <p:txBody>
          <a:bodyPr wrap="square" anchor="t" lIns="0" rIns="0" tIns="0" bIns="0">
            <a:spAutoFit/>
          </a:bodyPr>
          <a:lstStyle/>
          <a:p>
            <a:pPr algn="l">
              <a:spcAft>
                <a:spcPts val="600"/>
              </a:spcAft>
            </a:pPr>
            <a:r>
              <a:rPr sz="4400" b="1" i="0">
                <a:solidFill>
                  <a:srgbClr val="FFFFFF"/>
                </a:solidFill>
                <a:latin typeface="Cambria"/>
              </a:rPr>
              <a:t>2 / 2</a:t>
            </a:r>
          </a:p>
        </p:txBody>
      </p:sp>
      <p:sp>
        <p:nvSpPr>
          <p:cNvPr id="17" name="TextBox 16"/>
          <p:cNvSpPr txBox="1"/>
          <p:nvPr/>
        </p:nvSpPr>
        <p:spPr>
          <a:xfrm>
            <a:off x="7680960" y="3840480"/>
            <a:ext cx="3749039" cy="548640"/>
          </a:xfrm>
          <a:prstGeom prst="rect">
            <a:avLst/>
          </a:prstGeom>
          <a:noFill/>
        </p:spPr>
        <p:txBody>
          <a:bodyPr wrap="square" anchor="t" lIns="0" rIns="0" tIns="0" bIns="0">
            <a:spAutoFit/>
          </a:bodyPr>
          <a:lstStyle/>
          <a:p>
            <a:pPr algn="l">
              <a:spcAft>
                <a:spcPts val="600"/>
              </a:spcAft>
            </a:pPr>
            <a:r>
              <a:rPr sz="1300" b="0" i="0">
                <a:solidFill>
                  <a:srgbClr val="BFD7DC"/>
                </a:solidFill>
                <a:latin typeface="Calibri"/>
              </a:rPr>
              <a:t>prompt-injection attempts handled safely</a:t>
            </a:r>
          </a:p>
        </p:txBody>
      </p:sp>
      <p:sp>
        <p:nvSpPr>
          <p:cNvPr id="18" name="TextBox 17"/>
          <p:cNvSpPr txBox="1"/>
          <p:nvPr/>
        </p:nvSpPr>
        <p:spPr>
          <a:xfrm>
            <a:off x="7680960" y="4389120"/>
            <a:ext cx="3749039" cy="731520"/>
          </a:xfrm>
          <a:prstGeom prst="rect">
            <a:avLst/>
          </a:prstGeom>
          <a:noFill/>
        </p:spPr>
        <p:txBody>
          <a:bodyPr wrap="square" anchor="t" lIns="0" rIns="0" tIns="0" bIns="0">
            <a:spAutoFit/>
          </a:bodyPr>
          <a:lstStyle/>
          <a:p>
            <a:pPr algn="l">
              <a:spcAft>
                <a:spcPts val="600"/>
              </a:spcAft>
            </a:pPr>
            <a:r>
              <a:rPr sz="4400" b="1" i="0">
                <a:solidFill>
                  <a:srgbClr val="EB6834"/>
                </a:solidFill>
                <a:latin typeface="Cambria"/>
              </a:rPr>
              <a:t>&gt; 30%</a:t>
            </a:r>
          </a:p>
        </p:txBody>
      </p:sp>
      <p:sp>
        <p:nvSpPr>
          <p:cNvPr id="19" name="TextBox 18"/>
          <p:cNvSpPr txBox="1"/>
          <p:nvPr/>
        </p:nvSpPr>
        <p:spPr>
          <a:xfrm>
            <a:off x="7680960" y="5166360"/>
            <a:ext cx="3749039" cy="548640"/>
          </a:xfrm>
          <a:prstGeom prst="rect">
            <a:avLst/>
          </a:prstGeom>
          <a:noFill/>
        </p:spPr>
        <p:txBody>
          <a:bodyPr wrap="square" anchor="t" lIns="0" rIns="0" tIns="0" bIns="0">
            <a:spAutoFit/>
          </a:bodyPr>
          <a:lstStyle/>
          <a:p>
            <a:pPr algn="l">
              <a:spcAft>
                <a:spcPts val="600"/>
              </a:spcAft>
            </a:pPr>
            <a:r>
              <a:rPr sz="1300" b="0" i="0">
                <a:solidFill>
                  <a:srgbClr val="BFD7DC"/>
                </a:solidFill>
                <a:latin typeface="Calibri"/>
              </a:rPr>
              <a:t>removed → labelled template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Measured on ten questions with known answers</a:t>
            </a:r>
          </a:p>
        </p:txBody>
      </p:sp>
      <p:graphicFrame>
        <p:nvGraphicFramePr>
          <p:cNvPr id="3" name="Chart 2"/>
          <p:cNvGraphicFramePr>
            <a:graphicFrameLocks noGrp="1"/>
          </p:cNvGraphicFramePr>
          <p:nvPr/>
        </p:nvGraphicFramePr>
        <p:xfrm>
          <a:off x="548640" y="1463040"/>
          <a:ext cx="6766560" cy="4754880"/>
        </p:xfrm>
        <a:graphic>
          <a:graphicData uri="http://schemas.openxmlformats.org/drawingml/2006/chart">
            <c:chart xmlns:c="http://schemas.openxmlformats.org/drawingml/2006/chart" r:id="rId3"/>
          </a:graphicData>
        </a:graphic>
      </p:graphicFrame>
      <p:sp>
        <p:nvSpPr>
          <p:cNvPr id="4" name="TextBox 3"/>
          <p:cNvSpPr txBox="1"/>
          <p:nvPr/>
        </p:nvSpPr>
        <p:spPr>
          <a:xfrm>
            <a:off x="7772400" y="1463040"/>
            <a:ext cx="3840480" cy="365760"/>
          </a:xfrm>
          <a:prstGeom prst="rect">
            <a:avLst/>
          </a:prstGeom>
          <a:noFill/>
        </p:spPr>
        <p:txBody>
          <a:bodyPr wrap="square" anchor="t" lIns="0" rIns="0" tIns="0" bIns="0">
            <a:spAutoFit/>
          </a:bodyPr>
          <a:lstStyle/>
          <a:p>
            <a:pPr algn="l">
              <a:spcAft>
                <a:spcPts val="600"/>
              </a:spcAft>
            </a:pPr>
            <a:r>
              <a:rPr sz="1500" b="1" i="0">
                <a:solidFill>
                  <a:srgbClr val="5B6B70"/>
                </a:solidFill>
                <a:latin typeface="Calibri"/>
              </a:rPr>
              <a:t>Anomaly detection, 8 random datasets</a:t>
            </a:r>
          </a:p>
        </p:txBody>
      </p:sp>
      <p:sp>
        <p:nvSpPr>
          <p:cNvPr id="5" name="TextBox 4"/>
          <p:cNvSpPr txBox="1"/>
          <p:nvPr/>
        </p:nvSpPr>
        <p:spPr>
          <a:xfrm>
            <a:off x="7772400" y="1920240"/>
            <a:ext cx="1828800" cy="731520"/>
          </a:xfrm>
          <a:prstGeom prst="rect">
            <a:avLst/>
          </a:prstGeom>
          <a:noFill/>
        </p:spPr>
        <p:txBody>
          <a:bodyPr wrap="square" anchor="t" lIns="0" rIns="0" tIns="0" bIns="0">
            <a:spAutoFit/>
          </a:bodyPr>
          <a:lstStyle/>
          <a:p>
            <a:pPr algn="l">
              <a:spcAft>
                <a:spcPts val="600"/>
              </a:spcAft>
            </a:pPr>
            <a:r>
              <a:rPr sz="4400" b="1" i="0">
                <a:solidFill>
                  <a:srgbClr val="1E8E66"/>
                </a:solidFill>
                <a:latin typeface="Cambria"/>
              </a:rPr>
              <a:t>14/14</a:t>
            </a:r>
          </a:p>
        </p:txBody>
      </p:sp>
      <p:sp>
        <p:nvSpPr>
          <p:cNvPr id="6" name="TextBox 5"/>
          <p:cNvSpPr txBox="1"/>
          <p:nvPr/>
        </p:nvSpPr>
        <p:spPr>
          <a:xfrm>
            <a:off x="7772400" y="2697480"/>
            <a:ext cx="182880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alarms were real</a:t>
            </a:r>
          </a:p>
        </p:txBody>
      </p:sp>
      <p:sp>
        <p:nvSpPr>
          <p:cNvPr id="7" name="TextBox 6"/>
          <p:cNvSpPr txBox="1"/>
          <p:nvPr/>
        </p:nvSpPr>
        <p:spPr>
          <a:xfrm>
            <a:off x="9692640" y="1920240"/>
            <a:ext cx="19202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14/16</a:t>
            </a:r>
          </a:p>
        </p:txBody>
      </p:sp>
      <p:sp>
        <p:nvSpPr>
          <p:cNvPr id="8" name="TextBox 7"/>
          <p:cNvSpPr txBox="1"/>
          <p:nvPr/>
        </p:nvSpPr>
        <p:spPr>
          <a:xfrm>
            <a:off x="9692640" y="2697480"/>
            <a:ext cx="19202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incidents found</a:t>
            </a:r>
          </a:p>
        </p:txBody>
      </p:sp>
      <p:sp>
        <p:nvSpPr>
          <p:cNvPr id="9" name="TextBox 8"/>
          <p:cNvSpPr txBox="1"/>
          <p:nvPr/>
        </p:nvSpPr>
        <p:spPr>
          <a:xfrm>
            <a:off x="7772400" y="3474720"/>
            <a:ext cx="3840480" cy="365760"/>
          </a:xfrm>
          <a:prstGeom prst="rect">
            <a:avLst/>
          </a:prstGeom>
          <a:noFill/>
        </p:spPr>
        <p:txBody>
          <a:bodyPr wrap="square" anchor="t" lIns="0" rIns="0" tIns="0" bIns="0">
            <a:spAutoFit/>
          </a:bodyPr>
          <a:lstStyle/>
          <a:p>
            <a:pPr algn="l">
              <a:spcAft>
                <a:spcPts val="600"/>
              </a:spcAft>
            </a:pPr>
            <a:r>
              <a:rPr sz="1500" b="1" i="0">
                <a:solidFill>
                  <a:srgbClr val="5B6B70"/>
                </a:solidFill>
                <a:latin typeface="Calibri"/>
              </a:rPr>
              <a:t>Speed on the laptop</a:t>
            </a:r>
          </a:p>
        </p:txBody>
      </p:sp>
      <p:sp>
        <p:nvSpPr>
          <p:cNvPr id="10" name="TextBox 9"/>
          <p:cNvSpPr txBox="1"/>
          <p:nvPr/>
        </p:nvSpPr>
        <p:spPr>
          <a:xfrm>
            <a:off x="7772400" y="3931920"/>
            <a:ext cx="182880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26 s</a:t>
            </a:r>
          </a:p>
        </p:txBody>
      </p:sp>
      <p:sp>
        <p:nvSpPr>
          <p:cNvPr id="11" name="TextBox 10"/>
          <p:cNvSpPr txBox="1"/>
          <p:nvPr/>
        </p:nvSpPr>
        <p:spPr>
          <a:xfrm>
            <a:off x="7772400" y="4709160"/>
            <a:ext cx="182880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median investigation</a:t>
            </a:r>
          </a:p>
        </p:txBody>
      </p:sp>
      <p:sp>
        <p:nvSpPr>
          <p:cNvPr id="12" name="TextBox 11"/>
          <p:cNvSpPr txBox="1"/>
          <p:nvPr/>
        </p:nvSpPr>
        <p:spPr>
          <a:xfrm>
            <a:off x="9692640" y="3931920"/>
            <a:ext cx="1920240" cy="731520"/>
          </a:xfrm>
          <a:prstGeom prst="rect">
            <a:avLst/>
          </a:prstGeom>
          <a:noFill/>
        </p:spPr>
        <p:txBody>
          <a:bodyPr wrap="square" anchor="t" lIns="0" rIns="0" tIns="0" bIns="0">
            <a:spAutoFit/>
          </a:bodyPr>
          <a:lstStyle/>
          <a:p>
            <a:pPr algn="l">
              <a:spcAft>
                <a:spcPts val="600"/>
              </a:spcAft>
            </a:pPr>
            <a:r>
              <a:rPr sz="4400" b="1" i="0">
                <a:solidFill>
                  <a:srgbClr val="0F2E35"/>
                </a:solidFill>
                <a:latin typeface="Cambria"/>
              </a:rPr>
              <a:t>57 s</a:t>
            </a:r>
          </a:p>
        </p:txBody>
      </p:sp>
      <p:sp>
        <p:nvSpPr>
          <p:cNvPr id="13" name="TextBox 12"/>
          <p:cNvSpPr txBox="1"/>
          <p:nvPr/>
        </p:nvSpPr>
        <p:spPr>
          <a:xfrm>
            <a:off x="9692640" y="4709160"/>
            <a:ext cx="1920240" cy="54864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slowest of 10 (p90)</a:t>
            </a:r>
          </a:p>
        </p:txBody>
      </p:sp>
      <p:sp>
        <p:nvSpPr>
          <p:cNvPr id="14" name="TextBox 13"/>
          <p:cNvSpPr txBox="1"/>
          <p:nvPr/>
        </p:nvSpPr>
        <p:spPr>
          <a:xfrm>
            <a:off x="7772400" y="5989320"/>
            <a:ext cx="3840480" cy="457200"/>
          </a:xfrm>
          <a:prstGeom prst="rect">
            <a:avLst/>
          </a:prstGeom>
          <a:noFill/>
        </p:spPr>
        <p:txBody>
          <a:bodyPr wrap="square" anchor="t" lIns="0" rIns="0" tIns="0" bIns="0">
            <a:spAutoFit/>
          </a:bodyPr>
          <a:lstStyle/>
          <a:p>
            <a:pPr algn="l">
              <a:spcAft>
                <a:spcPts val="600"/>
              </a:spcAft>
            </a:pPr>
            <a:r>
              <a:rPr sz="1100" b="0" i="0">
                <a:solidFill>
                  <a:srgbClr val="5B6B70"/>
                </a:solidFill>
                <a:latin typeface="Calibri"/>
              </a:rPr>
              <a:t>Source: docs/evaluation.md (run 2, Oct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What the evaluation taught us</a:t>
            </a:r>
          </a:p>
        </p:txBody>
      </p:sp>
      <p:sp>
        <p:nvSpPr>
          <p:cNvPr id="3" name="Rounded Rectangle 2"/>
          <p:cNvSpPr/>
          <p:nvPr/>
        </p:nvSpPr>
        <p:spPr>
          <a:xfrm>
            <a:off x="548640" y="1463040"/>
            <a:ext cx="3520440" cy="457200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73736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822960" y="2423160"/>
            <a:ext cx="2971800" cy="73152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The checker can be wrong too</a:t>
            </a:r>
          </a:p>
        </p:txBody>
      </p:sp>
      <p:sp>
        <p:nvSpPr>
          <p:cNvPr id="6" name="TextBox 5"/>
          <p:cNvSpPr txBox="1"/>
          <p:nvPr/>
        </p:nvSpPr>
        <p:spPr>
          <a:xfrm>
            <a:off x="822960" y="3154680"/>
            <a:ext cx="2971800" cy="155448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First real run: all 4 removed sentences were true (a date read as a number, a valid citation not recognised). Each became a regression test.</a:t>
            </a:r>
          </a:p>
        </p:txBody>
      </p:sp>
      <p:sp>
        <p:nvSpPr>
          <p:cNvPr id="7" name="TextBox 6"/>
          <p:cNvSpPr txBox="1"/>
          <p:nvPr/>
        </p:nvSpPr>
        <p:spPr>
          <a:xfrm>
            <a:off x="822960" y="4754880"/>
            <a:ext cx="2971800" cy="640080"/>
          </a:xfrm>
          <a:prstGeom prst="rect">
            <a:avLst/>
          </a:prstGeom>
          <a:noFill/>
        </p:spPr>
        <p:txBody>
          <a:bodyPr wrap="square" anchor="t" lIns="0" rIns="0" tIns="0" bIns="0">
            <a:spAutoFit/>
          </a:bodyPr>
          <a:lstStyle/>
          <a:p>
            <a:pPr algn="l">
              <a:spcAft>
                <a:spcPts val="600"/>
              </a:spcAft>
            </a:pPr>
            <a:r>
              <a:rPr sz="3400" b="1" i="0">
                <a:solidFill>
                  <a:srgbClr val="0F2E35"/>
                </a:solidFill>
                <a:latin typeface="Cambria"/>
              </a:rPr>
              <a:t>4 → 0</a:t>
            </a:r>
          </a:p>
        </p:txBody>
      </p:sp>
      <p:sp>
        <p:nvSpPr>
          <p:cNvPr id="8" name="TextBox 7"/>
          <p:cNvSpPr txBox="1"/>
          <p:nvPr/>
        </p:nvSpPr>
        <p:spPr>
          <a:xfrm>
            <a:off x="822960" y="5394960"/>
            <a:ext cx="2971800" cy="3657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false removals</a:t>
            </a:r>
          </a:p>
        </p:txBody>
      </p:sp>
      <p:sp>
        <p:nvSpPr>
          <p:cNvPr id="9" name="Rounded Rectangle 8"/>
          <p:cNvSpPr/>
          <p:nvPr/>
        </p:nvSpPr>
        <p:spPr>
          <a:xfrm>
            <a:off x="4361688" y="1463040"/>
            <a:ext cx="3520440" cy="457200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36008" y="173736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11" name="TextBox 10"/>
          <p:cNvSpPr txBox="1"/>
          <p:nvPr/>
        </p:nvSpPr>
        <p:spPr>
          <a:xfrm>
            <a:off x="4636008" y="2423160"/>
            <a:ext cx="2971800" cy="73152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My prompt caused errors</a:t>
            </a:r>
          </a:p>
        </p:txBody>
      </p:sp>
      <p:sp>
        <p:nvSpPr>
          <p:cNvPr id="12" name="TextBox 11"/>
          <p:cNvSpPr txBox="1"/>
          <p:nvPr/>
        </p:nvSpPr>
        <p:spPr>
          <a:xfrm>
            <a:off x="4636008" y="3154680"/>
            <a:ext cx="2971800" cy="155448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An example ID in the instructions was copied when no hypotheses existed. Removing the example fixed it.</a:t>
            </a:r>
          </a:p>
        </p:txBody>
      </p:sp>
      <p:sp>
        <p:nvSpPr>
          <p:cNvPr id="13" name="TextBox 12"/>
          <p:cNvSpPr txBox="1"/>
          <p:nvPr/>
        </p:nvSpPr>
        <p:spPr>
          <a:xfrm>
            <a:off x="4636008" y="4754880"/>
            <a:ext cx="2971800" cy="640080"/>
          </a:xfrm>
          <a:prstGeom prst="rect">
            <a:avLst/>
          </a:prstGeom>
          <a:noFill/>
        </p:spPr>
        <p:txBody>
          <a:bodyPr wrap="square" anchor="t" lIns="0" rIns="0" tIns="0" bIns="0">
            <a:spAutoFit/>
          </a:bodyPr>
          <a:lstStyle/>
          <a:p>
            <a:pPr algn="l">
              <a:spcAft>
                <a:spcPts val="600"/>
              </a:spcAft>
            </a:pPr>
            <a:r>
              <a:rPr sz="3400" b="1" i="0">
                <a:solidFill>
                  <a:srgbClr val="0F2E35"/>
                </a:solidFill>
                <a:latin typeface="Cambria"/>
              </a:rPr>
              <a:t>4 → 0</a:t>
            </a:r>
          </a:p>
        </p:txBody>
      </p:sp>
      <p:sp>
        <p:nvSpPr>
          <p:cNvPr id="14" name="TextBox 13"/>
          <p:cNvSpPr txBox="1"/>
          <p:nvPr/>
        </p:nvSpPr>
        <p:spPr>
          <a:xfrm>
            <a:off x="4636008" y="5394960"/>
            <a:ext cx="2971800" cy="3657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invented IDs</a:t>
            </a:r>
          </a:p>
        </p:txBody>
      </p:sp>
      <p:sp>
        <p:nvSpPr>
          <p:cNvPr id="15" name="Rounded Rectangle 14"/>
          <p:cNvSpPr/>
          <p:nvPr/>
        </p:nvSpPr>
        <p:spPr>
          <a:xfrm>
            <a:off x="8174736" y="1463040"/>
            <a:ext cx="3520440" cy="4572000"/>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449056" y="173736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17" name="TextBox 16"/>
          <p:cNvSpPr txBox="1"/>
          <p:nvPr/>
        </p:nvSpPr>
        <p:spPr>
          <a:xfrm>
            <a:off x="8449056" y="2423160"/>
            <a:ext cx="2971800" cy="731520"/>
          </a:xfrm>
          <a:prstGeom prst="rect">
            <a:avLst/>
          </a:prstGeom>
          <a:noFill/>
        </p:spPr>
        <p:txBody>
          <a:bodyPr wrap="square" anchor="t" lIns="0" rIns="0" tIns="0" bIns="0">
            <a:spAutoFit/>
          </a:bodyPr>
          <a:lstStyle/>
          <a:p>
            <a:pPr algn="l">
              <a:spcAft>
                <a:spcPts val="600"/>
              </a:spcAft>
            </a:pPr>
            <a:r>
              <a:rPr sz="1800" b="1" i="0">
                <a:solidFill>
                  <a:srgbClr val="1C2B30"/>
                </a:solidFill>
                <a:latin typeface="Calibri"/>
              </a:rPr>
              <a:t>What checks cannot catch</a:t>
            </a:r>
          </a:p>
        </p:txBody>
      </p:sp>
      <p:sp>
        <p:nvSpPr>
          <p:cNvPr id="18" name="TextBox 17"/>
          <p:cNvSpPr txBox="1"/>
          <p:nvPr/>
        </p:nvSpPr>
        <p:spPr>
          <a:xfrm>
            <a:off x="8449056" y="3154680"/>
            <a:ext cx="2971800" cy="1554480"/>
          </a:xfrm>
          <a:prstGeom prst="rect">
            <a:avLst/>
          </a:prstGeom>
          <a:noFill/>
        </p:spPr>
        <p:txBody>
          <a:bodyPr wrap="square" anchor="t" lIns="0" rIns="0" tIns="0" bIns="0">
            <a:spAutoFit/>
          </a:bodyPr>
          <a:lstStyle/>
          <a:p>
            <a:pPr algn="l">
              <a:spcAft>
                <a:spcPts val="600"/>
              </a:spcAft>
            </a:pPr>
            <a:r>
              <a:rPr sz="1400" b="0" i="0">
                <a:solidFill>
                  <a:srgbClr val="1C2B30"/>
                </a:solidFill>
                <a:latin typeface="Calibri"/>
              </a:rPr>
              <a:t>A copied cost range was attached to the wrong period. Right numbers, wrong meaning: needs human review.</a:t>
            </a:r>
          </a:p>
        </p:txBody>
      </p:sp>
      <p:sp>
        <p:nvSpPr>
          <p:cNvPr id="19" name="TextBox 18"/>
          <p:cNvSpPr txBox="1"/>
          <p:nvPr/>
        </p:nvSpPr>
        <p:spPr>
          <a:xfrm>
            <a:off x="8449056" y="4754880"/>
            <a:ext cx="2971800" cy="640080"/>
          </a:xfrm>
          <a:prstGeom prst="rect">
            <a:avLst/>
          </a:prstGeom>
          <a:noFill/>
        </p:spPr>
        <p:txBody>
          <a:bodyPr wrap="square" anchor="t" lIns="0" rIns="0" tIns="0" bIns="0">
            <a:spAutoFit/>
          </a:bodyPr>
          <a:lstStyle/>
          <a:p>
            <a:pPr algn="l">
              <a:spcAft>
                <a:spcPts val="600"/>
              </a:spcAft>
            </a:pPr>
            <a:r>
              <a:rPr sz="3400" b="1" i="0">
                <a:solidFill>
                  <a:srgbClr val="EB6834"/>
                </a:solidFill>
                <a:latin typeface="Cambria"/>
              </a:rPr>
              <a:t>open</a:t>
            </a:r>
          </a:p>
        </p:txBody>
      </p:sp>
      <p:sp>
        <p:nvSpPr>
          <p:cNvPr id="20" name="TextBox 19"/>
          <p:cNvSpPr txBox="1"/>
          <p:nvPr/>
        </p:nvSpPr>
        <p:spPr>
          <a:xfrm>
            <a:off x="8449056" y="5394960"/>
            <a:ext cx="2971800" cy="3657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measured by sampling 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Runs survive interruptions and stay bounded</a:t>
            </a:r>
          </a:p>
        </p:txBody>
      </p:sp>
      <p:sp>
        <p:nvSpPr>
          <p:cNvPr id="3" name="Oval 2"/>
          <p:cNvSpPr/>
          <p:nvPr/>
        </p:nvSpPr>
        <p:spPr>
          <a:xfrm>
            <a:off x="841908"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4" name="TextBox 3"/>
          <p:cNvSpPr txBox="1"/>
          <p:nvPr/>
        </p:nvSpPr>
        <p:spPr>
          <a:xfrm>
            <a:off x="548640"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plan</a:t>
            </a:r>
          </a:p>
        </p:txBody>
      </p:sp>
      <p:sp>
        <p:nvSpPr>
          <p:cNvPr id="5" name="Oval 4"/>
          <p:cNvSpPr/>
          <p:nvPr/>
        </p:nvSpPr>
        <p:spPr>
          <a:xfrm>
            <a:off x="2086813"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6" name="TextBox 5"/>
          <p:cNvSpPr txBox="1"/>
          <p:nvPr/>
        </p:nvSpPr>
        <p:spPr>
          <a:xfrm>
            <a:off x="1793545"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transaction</a:t>
            </a:r>
          </a:p>
        </p:txBody>
      </p:sp>
      <p:sp>
        <p:nvSpPr>
          <p:cNvPr id="7" name="Oval 6"/>
          <p:cNvSpPr/>
          <p:nvPr/>
        </p:nvSpPr>
        <p:spPr>
          <a:xfrm>
            <a:off x="3331718"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8" name="TextBox 7"/>
          <p:cNvSpPr txBox="1"/>
          <p:nvPr/>
        </p:nvSpPr>
        <p:spPr>
          <a:xfrm>
            <a:off x="3038450"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pattern</a:t>
            </a:r>
          </a:p>
        </p:txBody>
      </p:sp>
      <p:sp>
        <p:nvSpPr>
          <p:cNvPr id="9" name="Oval 8"/>
          <p:cNvSpPr/>
          <p:nvPr/>
        </p:nvSpPr>
        <p:spPr>
          <a:xfrm>
            <a:off x="4576623"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10" name="TextBox 9"/>
          <p:cNvSpPr txBox="1"/>
          <p:nvPr/>
        </p:nvSpPr>
        <p:spPr>
          <a:xfrm>
            <a:off x="4283354"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forecast</a:t>
            </a:r>
          </a:p>
        </p:txBody>
      </p:sp>
      <p:sp>
        <p:nvSpPr>
          <p:cNvPr id="11" name="Oval 10"/>
          <p:cNvSpPr/>
          <p:nvPr/>
        </p:nvSpPr>
        <p:spPr>
          <a:xfrm>
            <a:off x="5821528"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12" name="TextBox 11"/>
          <p:cNvSpPr txBox="1"/>
          <p:nvPr/>
        </p:nvSpPr>
        <p:spPr>
          <a:xfrm>
            <a:off x="5528259"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impact</a:t>
            </a:r>
          </a:p>
        </p:txBody>
      </p:sp>
      <p:sp>
        <p:nvSpPr>
          <p:cNvPr id="13" name="Oval 12"/>
          <p:cNvSpPr/>
          <p:nvPr/>
        </p:nvSpPr>
        <p:spPr>
          <a:xfrm>
            <a:off x="7066432" y="1737360"/>
            <a:ext cx="548640" cy="54864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14" name="TextBox 13"/>
          <p:cNvSpPr txBox="1"/>
          <p:nvPr/>
        </p:nvSpPr>
        <p:spPr>
          <a:xfrm>
            <a:off x="6773164"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assemble</a:t>
            </a:r>
          </a:p>
        </p:txBody>
      </p:sp>
      <p:sp>
        <p:nvSpPr>
          <p:cNvPr id="15" name="Oval 14"/>
          <p:cNvSpPr/>
          <p:nvPr/>
        </p:nvSpPr>
        <p:spPr>
          <a:xfrm>
            <a:off x="8311337" y="173736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16" name="TextBox 15"/>
          <p:cNvSpPr txBox="1"/>
          <p:nvPr/>
        </p:nvSpPr>
        <p:spPr>
          <a:xfrm>
            <a:off x="8018069"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narrate</a:t>
            </a:r>
          </a:p>
        </p:txBody>
      </p:sp>
      <p:sp>
        <p:nvSpPr>
          <p:cNvPr id="17" name="Oval 16"/>
          <p:cNvSpPr/>
          <p:nvPr/>
        </p:nvSpPr>
        <p:spPr>
          <a:xfrm>
            <a:off x="9556242" y="173736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18" name="TextBox 17"/>
          <p:cNvSpPr txBox="1"/>
          <p:nvPr/>
        </p:nvSpPr>
        <p:spPr>
          <a:xfrm>
            <a:off x="9262973"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verify</a:t>
            </a:r>
          </a:p>
        </p:txBody>
      </p:sp>
      <p:sp>
        <p:nvSpPr>
          <p:cNvPr id="19" name="Oval 18"/>
          <p:cNvSpPr/>
          <p:nvPr/>
        </p:nvSpPr>
        <p:spPr>
          <a:xfrm>
            <a:off x="10801147" y="173736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a:t>
            </a:r>
          </a:p>
        </p:txBody>
      </p:sp>
      <p:sp>
        <p:nvSpPr>
          <p:cNvPr id="20" name="TextBox 19"/>
          <p:cNvSpPr txBox="1"/>
          <p:nvPr/>
        </p:nvSpPr>
        <p:spPr>
          <a:xfrm>
            <a:off x="10507878" y="2395728"/>
            <a:ext cx="1135177" cy="365760"/>
          </a:xfrm>
          <a:prstGeom prst="rect">
            <a:avLst/>
          </a:prstGeom>
          <a:noFill/>
        </p:spPr>
        <p:txBody>
          <a:bodyPr wrap="square" anchor="t" lIns="0" rIns="0" tIns="0" bIns="0">
            <a:spAutoFit/>
          </a:bodyPr>
          <a:lstStyle/>
          <a:p>
            <a:pPr algn="ctr">
              <a:spcAft>
                <a:spcPts val="600"/>
              </a:spcAft>
            </a:pPr>
            <a:r>
              <a:rPr sz="1300" b="0" i="0">
                <a:solidFill>
                  <a:srgbClr val="1C2B30"/>
                </a:solidFill>
                <a:latin typeface="Calibri"/>
              </a:rPr>
              <a:t>finalize</a:t>
            </a:r>
          </a:p>
        </p:txBody>
      </p:sp>
      <p:sp>
        <p:nvSpPr>
          <p:cNvPr id="21" name="TextBox 20"/>
          <p:cNvSpPr txBox="1"/>
          <p:nvPr/>
        </p:nvSpPr>
        <p:spPr>
          <a:xfrm>
            <a:off x="548640" y="2880360"/>
            <a:ext cx="10972800" cy="457200"/>
          </a:xfrm>
          <a:prstGeom prst="rect">
            <a:avLst/>
          </a:prstGeom>
          <a:noFill/>
        </p:spPr>
        <p:txBody>
          <a:bodyPr wrap="square" anchor="t" lIns="0" rIns="0" tIns="0" bIns="0">
            <a:spAutoFit/>
          </a:bodyPr>
          <a:lstStyle/>
          <a:p>
            <a:pPr algn="l">
              <a:spcAft>
                <a:spcPts val="600"/>
              </a:spcAft>
            </a:pPr>
            <a:r>
              <a:rPr sz="1400" b="1" i="0">
                <a:solidFill>
                  <a:srgbClr val="0F2E35"/>
                </a:solidFill>
                <a:latin typeface="Calibri"/>
              </a:rPr>
              <a:t>↺ reused from checkpoint</a:t>
            </a:r>
            <a:r>
              <a:rPr sz="1400" b="0" i="0">
                <a:solidFill>
                  <a:srgbClr val="1C2B30"/>
                </a:solidFill>
                <a:latin typeface="Calibri"/>
              </a:rPr>
              <a:t>     </a:t>
            </a:r>
            <a:r>
              <a:rPr sz="1400" b="1" i="0">
                <a:solidFill>
                  <a:srgbClr val="EB6834"/>
                </a:solidFill>
                <a:latin typeface="Calibri"/>
              </a:rPr>
              <a:t>▶ run again after the interruption</a:t>
            </a:r>
            <a:r>
              <a:rPr sz="1400" b="0" i="0">
                <a:solidFill>
                  <a:srgbClr val="5B6B70"/>
                </a:solidFill>
                <a:latin typeface="Calibri"/>
              </a:rPr>
              <a:t>     resumed in 15.7 s, on your laptop</a:t>
            </a:r>
          </a:p>
        </p:txBody>
      </p:sp>
      <p:graphicFrame>
        <p:nvGraphicFramePr>
          <p:cNvPr id="22" name="Table 21"/>
          <p:cNvGraphicFramePr>
            <a:graphicFrameLocks noGrp="1"/>
          </p:cNvGraphicFramePr>
          <p:nvPr/>
        </p:nvGraphicFramePr>
        <p:xfrm>
          <a:off x="548640" y="3429000"/>
          <a:ext cx="11064240" cy="2578608"/>
        </p:xfrm>
        <a:graphic>
          <a:graphicData uri="http://schemas.openxmlformats.org/drawingml/2006/table">
            <a:tbl>
              <a:tblPr firstRow="1" bandRow="1">
                <a:tableStyleId>{5C22544A-7EE6-4342-B048-85BDC9FD1C3A}</a:tableStyleId>
              </a:tblPr>
              <a:tblGrid>
                <a:gridCol w="3657600"/>
                <a:gridCol w="3017520"/>
                <a:gridCol w="4389120"/>
              </a:tblGrid>
              <a:tr h="429768">
                <a:tc>
                  <a:txBody>
                    <a:bodyPr wrap="square"/>
                    <a:lstStyle/>
                    <a:p>
                      <a:pPr algn="l"/>
                      <a:r>
                        <a:rPr sz="1400" b="1" i="0">
                          <a:solidFill>
                            <a:srgbClr val="FFFFFF"/>
                          </a:solidFill>
                          <a:latin typeface="Calibri"/>
                        </a:rPr>
                        <a:t>Limit</a:t>
                      </a:r>
                    </a:p>
                  </a:txBody>
                  <a:tcPr marL="73152" marR="73152" anchor="ctr">
                    <a:solidFill>
                      <a:srgbClr val="0F2E35"/>
                    </a:solidFill>
                  </a:tcPr>
                </a:tc>
                <a:tc>
                  <a:txBody>
                    <a:bodyPr wrap="square"/>
                    <a:lstStyle/>
                    <a:p>
                      <a:pPr algn="ctr"/>
                      <a:r>
                        <a:rPr sz="1400" b="1" i="0">
                          <a:solidFill>
                            <a:srgbClr val="FFFFFF"/>
                          </a:solidFill>
                          <a:latin typeface="Calibri"/>
                        </a:rPr>
                        <a:t>Default</a:t>
                      </a:r>
                    </a:p>
                  </a:txBody>
                  <a:tcPr marL="73152" marR="73152" anchor="ctr">
                    <a:solidFill>
                      <a:srgbClr val="0F2E35"/>
                    </a:solidFill>
                  </a:tcPr>
                </a:tc>
                <a:tc>
                  <a:txBody>
                    <a:bodyPr wrap="square"/>
                    <a:lstStyle/>
                    <a:p>
                      <a:pPr algn="ctr"/>
                      <a:r>
                        <a:rPr sz="1400" b="1" i="0">
                          <a:solidFill>
                            <a:srgbClr val="FFFFFF"/>
                          </a:solidFill>
                          <a:latin typeface="Calibri"/>
                        </a:rPr>
                        <a:t>When reached</a:t>
                      </a:r>
                    </a:p>
                  </a:txBody>
                  <a:tcPr marL="73152" marR="73152" anchor="ctr">
                    <a:solidFill>
                      <a:srgbClr val="0F2E35"/>
                    </a:solidFill>
                  </a:tcPr>
                </a:tc>
              </a:tr>
              <a:tr h="429768">
                <a:tc>
                  <a:txBody>
                    <a:bodyPr wrap="square"/>
                    <a:lstStyle/>
                    <a:p>
                      <a:pPr algn="l"/>
                      <a:r>
                        <a:rPr sz="1400" b="1" i="0">
                          <a:solidFill>
                            <a:srgbClr val="1C2B30"/>
                          </a:solidFill>
                          <a:latin typeface="Calibri"/>
                        </a:rPr>
                        <a:t>Time per investigation</a:t>
                      </a:r>
                    </a:p>
                  </a:txBody>
                  <a:tcPr marL="73152" marR="73152" anchor="ctr">
                    <a:solidFill>
                      <a:srgbClr val="FFFFFF"/>
                    </a:solidFill>
                  </a:tcPr>
                </a:tc>
                <a:tc>
                  <a:txBody>
                    <a:bodyPr wrap="square"/>
                    <a:lstStyle/>
                    <a:p>
                      <a:pPr algn="ctr"/>
                      <a:r>
                        <a:rPr sz="1400" b="0" i="0">
                          <a:solidFill>
                            <a:srgbClr val="1C2B30"/>
                          </a:solidFill>
                          <a:latin typeface="Calibri"/>
                        </a:rPr>
                        <a:t>600 s</a:t>
                      </a:r>
                    </a:p>
                  </a:txBody>
                  <a:tcPr marL="73152" marR="73152" anchor="ctr">
                    <a:solidFill>
                      <a:srgbClr val="FFFFFF"/>
                    </a:solidFill>
                  </a:tcPr>
                </a:tc>
                <a:tc>
                  <a:txBody>
                    <a:bodyPr wrap="square"/>
                    <a:lstStyle/>
                    <a:p>
                      <a:pPr algn="ctr"/>
                      <a:r>
                        <a:rPr sz="1400" b="0" i="0">
                          <a:solidFill>
                            <a:srgbClr val="1C2B30"/>
                          </a:solidFill>
                          <a:latin typeface="Calibri"/>
                        </a:rPr>
                        <a:t>labelled partial report, resumable</a:t>
                      </a:r>
                    </a:p>
                  </a:txBody>
                  <a:tcPr marL="73152" marR="73152" anchor="ctr">
                    <a:solidFill>
                      <a:srgbClr val="FFFFFF"/>
                    </a:solidFill>
                  </a:tcPr>
                </a:tc>
              </a:tr>
              <a:tr h="429768">
                <a:tc>
                  <a:txBody>
                    <a:bodyPr wrap="square"/>
                    <a:lstStyle/>
                    <a:p>
                      <a:pPr algn="l"/>
                      <a:r>
                        <a:rPr sz="1400" b="1" i="0">
                          <a:solidFill>
                            <a:srgbClr val="1C2B30"/>
                          </a:solidFill>
                          <a:latin typeface="Calibri"/>
                        </a:rPr>
                        <a:t>Steps per run</a:t>
                      </a:r>
                    </a:p>
                  </a:txBody>
                  <a:tcPr marL="73152" marR="73152" anchor="ctr">
                    <a:solidFill>
                      <a:srgbClr val="EEF3F4"/>
                    </a:solidFill>
                  </a:tcPr>
                </a:tc>
                <a:tc>
                  <a:txBody>
                    <a:bodyPr wrap="square"/>
                    <a:lstStyle/>
                    <a:p>
                      <a:pPr algn="ctr"/>
                      <a:r>
                        <a:rPr sz="1400" b="0" i="0">
                          <a:solidFill>
                            <a:srgbClr val="1C2B30"/>
                          </a:solidFill>
                          <a:latin typeface="Calibri"/>
                        </a:rPr>
                        <a:t>20 (9 needed)</a:t>
                      </a:r>
                    </a:p>
                  </a:txBody>
                  <a:tcPr marL="73152" marR="73152" anchor="ctr">
                    <a:solidFill>
                      <a:srgbClr val="EEF3F4"/>
                    </a:solidFill>
                  </a:tcPr>
                </a:tc>
                <a:tc>
                  <a:txBody>
                    <a:bodyPr wrap="square"/>
                    <a:lstStyle/>
                    <a:p>
                      <a:pPr algn="ctr"/>
                      <a:r>
                        <a:rPr sz="1400" b="0" i="0">
                          <a:solidFill>
                            <a:srgbClr val="1C2B30"/>
                          </a:solidFill>
                          <a:latin typeface="Calibri"/>
                        </a:rPr>
                        <a:t>stopped, recorded as interrupted</a:t>
                      </a:r>
                    </a:p>
                  </a:txBody>
                  <a:tcPr marL="73152" marR="73152" anchor="ctr">
                    <a:solidFill>
                      <a:srgbClr val="EEF3F4"/>
                    </a:solidFill>
                  </a:tcPr>
                </a:tc>
              </a:tr>
              <a:tr h="429768">
                <a:tc>
                  <a:txBody>
                    <a:bodyPr wrap="square"/>
                    <a:lstStyle/>
                    <a:p>
                      <a:pPr algn="l"/>
                      <a:r>
                        <a:rPr sz="1400" b="1" i="0">
                          <a:solidFill>
                            <a:srgbClr val="1C2B30"/>
                          </a:solidFill>
                          <a:latin typeface="Calibri"/>
                        </a:rPr>
                        <a:t>Tool calls per agent step</a:t>
                      </a:r>
                    </a:p>
                  </a:txBody>
                  <a:tcPr marL="73152" marR="73152" anchor="ctr">
                    <a:solidFill>
                      <a:srgbClr val="FFFFFF"/>
                    </a:solidFill>
                  </a:tcPr>
                </a:tc>
                <a:tc>
                  <a:txBody>
                    <a:bodyPr wrap="square"/>
                    <a:lstStyle/>
                    <a:p>
                      <a:pPr algn="ctr"/>
                      <a:r>
                        <a:rPr sz="1400" b="0" i="0">
                          <a:solidFill>
                            <a:srgbClr val="1C2B30"/>
                          </a:solidFill>
                          <a:latin typeface="Calibri"/>
                        </a:rPr>
                        <a:t>30 (busiest uses 9)</a:t>
                      </a:r>
                    </a:p>
                  </a:txBody>
                  <a:tcPr marL="73152" marR="73152" anchor="ctr">
                    <a:solidFill>
                      <a:srgbClr val="FFFFFF"/>
                    </a:solidFill>
                  </a:tcPr>
                </a:tc>
                <a:tc>
                  <a:txBody>
                    <a:bodyPr wrap="square"/>
                    <a:lstStyle/>
                    <a:p>
                      <a:pPr algn="ctr"/>
                      <a:r>
                        <a:rPr sz="1400" b="0" i="0">
                          <a:solidFill>
                            <a:srgbClr val="1C2B30"/>
                          </a:solidFill>
                          <a:latin typeface="Calibri"/>
                        </a:rPr>
                        <a:t>that step fails clearly</a:t>
                      </a:r>
                    </a:p>
                  </a:txBody>
                  <a:tcPr marL="73152" marR="73152" anchor="ctr">
                    <a:solidFill>
                      <a:srgbClr val="FFFFFF"/>
                    </a:solidFill>
                  </a:tcPr>
                </a:tc>
              </a:tr>
              <a:tr h="429768">
                <a:tc>
                  <a:txBody>
                    <a:bodyPr wrap="square"/>
                    <a:lstStyle/>
                    <a:p>
                      <a:pPr algn="l"/>
                      <a:r>
                        <a:rPr sz="1400" b="1" i="0">
                          <a:solidFill>
                            <a:srgbClr val="1C2B30"/>
                          </a:solidFill>
                          <a:latin typeface="Calibri"/>
                        </a:rPr>
                        <a:t>LLM calls per investigation</a:t>
                      </a:r>
                    </a:p>
                  </a:txBody>
                  <a:tcPr marL="73152" marR="73152" anchor="ctr">
                    <a:solidFill>
                      <a:srgbClr val="EEF3F4"/>
                    </a:solidFill>
                  </a:tcPr>
                </a:tc>
                <a:tc>
                  <a:txBody>
                    <a:bodyPr wrap="square"/>
                    <a:lstStyle/>
                    <a:p>
                      <a:pPr algn="ctr"/>
                      <a:r>
                        <a:rPr sz="1400" b="0" i="0">
                          <a:solidFill>
                            <a:srgbClr val="1C2B30"/>
                          </a:solidFill>
                          <a:latin typeface="Calibri"/>
                        </a:rPr>
                        <a:t>4</a:t>
                      </a:r>
                    </a:p>
                  </a:txBody>
                  <a:tcPr marL="73152" marR="73152" anchor="ctr">
                    <a:solidFill>
                      <a:srgbClr val="EEF3F4"/>
                    </a:solidFill>
                  </a:tcPr>
                </a:tc>
                <a:tc>
                  <a:txBody>
                    <a:bodyPr wrap="square"/>
                    <a:lstStyle/>
                    <a:p>
                      <a:pPr algn="ctr"/>
                      <a:r>
                        <a:rPr sz="1400" b="0" i="0">
                          <a:solidFill>
                            <a:srgbClr val="1C2B30"/>
                          </a:solidFill>
                          <a:latin typeface="Calibri"/>
                        </a:rPr>
                        <a:t>template report</a:t>
                      </a:r>
                    </a:p>
                  </a:txBody>
                  <a:tcPr marL="73152" marR="73152" anchor="ctr">
                    <a:solidFill>
                      <a:srgbClr val="EEF3F4"/>
                    </a:solidFill>
                  </a:tcPr>
                </a:tc>
              </a:tr>
              <a:tr h="429768">
                <a:tc>
                  <a:txBody>
                    <a:bodyPr wrap="square"/>
                    <a:lstStyle/>
                    <a:p>
                      <a:pPr algn="l"/>
                      <a:r>
                        <a:rPr sz="1400" b="1" i="0">
                          <a:solidFill>
                            <a:srgbClr val="1C2B30"/>
                          </a:solidFill>
                          <a:latin typeface="Calibri"/>
                        </a:rPr>
                        <a:t>Investigations at once</a:t>
                      </a:r>
                    </a:p>
                  </a:txBody>
                  <a:tcPr marL="73152" marR="73152" anchor="ctr">
                    <a:solidFill>
                      <a:srgbClr val="FFFFFF"/>
                    </a:solidFill>
                  </a:tcPr>
                </a:tc>
                <a:tc>
                  <a:txBody>
                    <a:bodyPr wrap="square"/>
                    <a:lstStyle/>
                    <a:p>
                      <a:pPr algn="ctr"/>
                      <a:r>
                        <a:rPr sz="1400" b="0" i="0">
                          <a:solidFill>
                            <a:srgbClr val="1C2B30"/>
                          </a:solidFill>
                          <a:latin typeface="Calibri"/>
                        </a:rPr>
                        <a:t>2</a:t>
                      </a:r>
                    </a:p>
                  </a:txBody>
                  <a:tcPr marL="73152" marR="73152" anchor="ctr">
                    <a:solidFill>
                      <a:srgbClr val="FFFFFF"/>
                    </a:solidFill>
                  </a:tcPr>
                </a:tc>
                <a:tc>
                  <a:txBody>
                    <a:bodyPr wrap="square"/>
                    <a:lstStyle/>
                    <a:p>
                      <a:pPr algn="ctr"/>
                      <a:r>
                        <a:rPr sz="1400" b="0" i="0">
                          <a:solidFill>
                            <a:srgbClr val="1C2B30"/>
                          </a:solidFill>
                          <a:latin typeface="Calibri"/>
                        </a:rPr>
                        <a:t>HTTP 429 'try again'</a:t>
                      </a:r>
                    </a:p>
                  </a:txBody>
                  <a:tcPr marL="73152" marR="73152"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Access is enforced by the backend, and recorded</a:t>
            </a:r>
          </a:p>
        </p:txBody>
      </p:sp>
      <p:graphicFrame>
        <p:nvGraphicFramePr>
          <p:cNvPr id="3" name="Table 2"/>
          <p:cNvGraphicFramePr>
            <a:graphicFrameLocks noGrp="1"/>
          </p:cNvGraphicFramePr>
          <p:nvPr/>
        </p:nvGraphicFramePr>
        <p:xfrm>
          <a:off x="548640" y="1463040"/>
          <a:ext cx="6766560" cy="3520440"/>
        </p:xfrm>
        <a:graphic>
          <a:graphicData uri="http://schemas.openxmlformats.org/drawingml/2006/table">
            <a:tbl>
              <a:tblPr firstRow="1" bandRow="1">
                <a:tableStyleId>{5C22544A-7EE6-4342-B048-85BDC9FD1C3A}</a:tableStyleId>
              </a:tblPr>
              <a:tblGrid>
                <a:gridCol w="3108960"/>
                <a:gridCol w="914400"/>
                <a:gridCol w="914400"/>
                <a:gridCol w="914400"/>
                <a:gridCol w="914400"/>
              </a:tblGrid>
              <a:tr h="502920">
                <a:tc>
                  <a:txBody>
                    <a:bodyPr wrap="square"/>
                    <a:lstStyle/>
                    <a:p>
                      <a:pPr algn="l"/>
                      <a:r>
                        <a:rPr sz="1400" b="1" i="0">
                          <a:solidFill>
                            <a:srgbClr val="FFFFFF"/>
                          </a:solidFill>
                          <a:latin typeface="Calibri"/>
                        </a:rPr>
                        <a:t>Permission</a:t>
                      </a:r>
                    </a:p>
                  </a:txBody>
                  <a:tcPr marL="73152" marR="73152" anchor="ctr">
                    <a:solidFill>
                      <a:srgbClr val="0F2E35"/>
                    </a:solidFill>
                  </a:tcPr>
                </a:tc>
                <a:tc>
                  <a:txBody>
                    <a:bodyPr wrap="square"/>
                    <a:lstStyle/>
                    <a:p>
                      <a:pPr algn="ctr"/>
                      <a:r>
                        <a:rPr sz="1400" b="1" i="0">
                          <a:solidFill>
                            <a:srgbClr val="FFFFFF"/>
                          </a:solidFill>
                          <a:latin typeface="Calibri"/>
                        </a:rPr>
                        <a:t>viewer</a:t>
                      </a:r>
                    </a:p>
                  </a:txBody>
                  <a:tcPr marL="73152" marR="73152" anchor="ctr">
                    <a:solidFill>
                      <a:srgbClr val="0F2E35"/>
                    </a:solidFill>
                  </a:tcPr>
                </a:tc>
                <a:tc>
                  <a:txBody>
                    <a:bodyPr wrap="square"/>
                    <a:lstStyle/>
                    <a:p>
                      <a:pPr algn="ctr"/>
                      <a:r>
                        <a:rPr sz="1400" b="1" i="0">
                          <a:solidFill>
                            <a:srgbClr val="FFFFFF"/>
                          </a:solidFill>
                          <a:latin typeface="Calibri"/>
                        </a:rPr>
                        <a:t>analyst</a:t>
                      </a:r>
                    </a:p>
                  </a:txBody>
                  <a:tcPr marL="73152" marR="73152" anchor="ctr">
                    <a:solidFill>
                      <a:srgbClr val="0F2E35"/>
                    </a:solidFill>
                  </a:tcPr>
                </a:tc>
                <a:tc>
                  <a:txBody>
                    <a:bodyPr wrap="square"/>
                    <a:lstStyle/>
                    <a:p>
                      <a:pPr algn="ctr"/>
                      <a:r>
                        <a:rPr sz="1400" b="1" i="0">
                          <a:solidFill>
                            <a:srgbClr val="FFFFFF"/>
                          </a:solidFill>
                          <a:latin typeface="Calibri"/>
                        </a:rPr>
                        <a:t>lead</a:t>
                      </a:r>
                    </a:p>
                  </a:txBody>
                  <a:tcPr marL="73152" marR="73152" anchor="ctr">
                    <a:solidFill>
                      <a:srgbClr val="0F2E35"/>
                    </a:solidFill>
                  </a:tcPr>
                </a:tc>
                <a:tc>
                  <a:txBody>
                    <a:bodyPr wrap="square"/>
                    <a:lstStyle/>
                    <a:p>
                      <a:pPr algn="ctr"/>
                      <a:r>
                        <a:rPr sz="1400" b="1" i="0">
                          <a:solidFill>
                            <a:srgbClr val="FFFFFF"/>
                          </a:solidFill>
                          <a:latin typeface="Calibri"/>
                        </a:rPr>
                        <a:t>admin</a:t>
                      </a:r>
                    </a:p>
                  </a:txBody>
                  <a:tcPr marL="73152" marR="73152" anchor="ctr">
                    <a:solidFill>
                      <a:srgbClr val="0F2E35"/>
                    </a:solidFill>
                  </a:tcPr>
                </a:tc>
              </a:tr>
              <a:tr h="502920">
                <a:tc>
                  <a:txBody>
                    <a:bodyPr wrap="square"/>
                    <a:lstStyle/>
                    <a:p>
                      <a:pPr algn="l"/>
                      <a:r>
                        <a:rPr sz="1400" b="1" i="0">
                          <a:solidFill>
                            <a:srgbClr val="1C2B30"/>
                          </a:solidFill>
                          <a:latin typeface="Calibri"/>
                        </a:rPr>
                        <a:t>See dashboards and KPIs</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r>
              <a:tr h="502920">
                <a:tc>
                  <a:txBody>
                    <a:bodyPr wrap="square"/>
                    <a:lstStyle/>
                    <a:p>
                      <a:pPr algn="l"/>
                      <a:r>
                        <a:rPr sz="1400" b="1" i="0">
                          <a:solidFill>
                            <a:srgbClr val="1C2B30"/>
                          </a:solidFill>
                          <a:latin typeface="Calibri"/>
                        </a:rPr>
                        <a:t>Run investigations</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r>
              <a:tr h="502920">
                <a:tc>
                  <a:txBody>
                    <a:bodyPr wrap="square"/>
                    <a:lstStyle/>
                    <a:p>
                      <a:pPr algn="l"/>
                      <a:r>
                        <a:rPr sz="1400" b="1" i="0">
                          <a:solidFill>
                            <a:srgbClr val="1C2B30"/>
                          </a:solidFill>
                          <a:latin typeface="Calibri"/>
                        </a:rPr>
                        <a:t>See and resume own</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r>
              <a:tr h="502920">
                <a:tc>
                  <a:txBody>
                    <a:bodyPr wrap="square"/>
                    <a:lstStyle/>
                    <a:p>
                      <a:pPr algn="l"/>
                      <a:r>
                        <a:rPr sz="1400" b="1" i="0">
                          <a:solidFill>
                            <a:srgbClr val="1C2B30"/>
                          </a:solidFill>
                          <a:latin typeface="Calibri"/>
                        </a:rPr>
                        <a:t>See everyone's</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r>
              <a:tr h="502920">
                <a:tc>
                  <a:txBody>
                    <a:bodyPr wrap="square"/>
                    <a:lstStyle/>
                    <a:p>
                      <a:pPr algn="l"/>
                      <a:r>
                        <a:rPr sz="1400" b="1" i="0">
                          <a:solidFill>
                            <a:srgbClr val="1C2B30"/>
                          </a:solidFill>
                          <a:latin typeface="Calibri"/>
                        </a:rPr>
                        <a:t>Resume everyone's</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c>
                  <a:txBody>
                    <a:bodyPr wrap="square"/>
                    <a:lstStyle/>
                    <a:p>
                      <a:pPr algn="ctr"/>
                      <a:r>
                        <a:rPr sz="1400" b="0" i="0">
                          <a:solidFill>
                            <a:srgbClr val="1C2B30"/>
                          </a:solidFill>
                          <a:latin typeface="Calibri"/>
                        </a:rPr>
                        <a:t>–</a:t>
                      </a:r>
                    </a:p>
                  </a:txBody>
                  <a:tcPr marL="73152" marR="73152" anchor="ctr">
                    <a:solidFill>
                      <a:srgbClr val="FFFFFF"/>
                    </a:solidFill>
                  </a:tcPr>
                </a:tc>
              </a:tr>
              <a:tr h="502920">
                <a:tc>
                  <a:txBody>
                    <a:bodyPr wrap="square"/>
                    <a:lstStyle/>
                    <a:p>
                      <a:pPr algn="l"/>
                      <a:r>
                        <a:rPr sz="1400" b="1" i="0">
                          <a:solidFill>
                            <a:srgbClr val="1C2B30"/>
                          </a:solidFill>
                          <a:latin typeface="Calibri"/>
                        </a:rPr>
                        <a:t>Manage accounts, read audit log</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c>
                  <a:txBody>
                    <a:bodyPr wrap="square"/>
                    <a:lstStyle/>
                    <a:p>
                      <a:pPr algn="ctr"/>
                      <a:r>
                        <a:rPr sz="1400" b="0" i="0">
                          <a:solidFill>
                            <a:srgbClr val="1C2B30"/>
                          </a:solidFill>
                          <a:latin typeface="Calibri"/>
                        </a:rPr>
                        <a:t>✓</a:t>
                      </a:r>
                    </a:p>
                  </a:txBody>
                  <a:tcPr marL="73152" marR="73152" anchor="ctr">
                    <a:solidFill>
                      <a:srgbClr val="EEF3F4"/>
                    </a:solidFill>
                  </a:tcPr>
                </a:tc>
              </a:tr>
            </a:tbl>
          </a:graphicData>
        </a:graphic>
      </p:graphicFrame>
      <p:sp>
        <p:nvSpPr>
          <p:cNvPr id="4" name="Oval 3"/>
          <p:cNvSpPr/>
          <p:nvPr/>
        </p:nvSpPr>
        <p:spPr>
          <a:xfrm>
            <a:off x="7680960" y="14630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5" name="TextBox 4"/>
          <p:cNvSpPr txBox="1"/>
          <p:nvPr/>
        </p:nvSpPr>
        <p:spPr>
          <a:xfrm>
            <a:off x="8321040" y="1444752"/>
            <a:ext cx="3383280" cy="82296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scrypt, OWASP parameters</a:t>
            </a:r>
          </a:p>
          <a:p>
            <a:pPr algn="l">
              <a:spcAft>
                <a:spcPts val="0"/>
              </a:spcAft>
            </a:pPr>
            <a:r>
              <a:rPr sz="1300" b="0" i="0">
                <a:solidFill>
                  <a:srgbClr val="5B6B70"/>
                </a:solidFill>
                <a:latin typeface="Calibri"/>
              </a:rPr>
              <a:t>128 MiB per hash; lockout after 5 tries</a:t>
            </a:r>
          </a:p>
        </p:txBody>
      </p:sp>
      <p:sp>
        <p:nvSpPr>
          <p:cNvPr id="6" name="Oval 5"/>
          <p:cNvSpPr/>
          <p:nvPr/>
        </p:nvSpPr>
        <p:spPr>
          <a:xfrm>
            <a:off x="7680960" y="23774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7" name="TextBox 6"/>
          <p:cNvSpPr txBox="1"/>
          <p:nvPr/>
        </p:nvSpPr>
        <p:spPr>
          <a:xfrm>
            <a:off x="8321040" y="2359152"/>
            <a:ext cx="3383280" cy="82296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Server-side sessions</a:t>
            </a:r>
          </a:p>
          <a:p>
            <a:pPr algn="l">
              <a:spcAft>
                <a:spcPts val="0"/>
              </a:spcAft>
            </a:pPr>
            <a:r>
              <a:rPr sz="1300" b="0" i="0">
                <a:solidFill>
                  <a:srgbClr val="5B6B70"/>
                </a:solidFill>
                <a:latin typeface="Calibri"/>
              </a:rPr>
              <a:t>30 min idle, 8 h maximum; logout is immediate</a:t>
            </a:r>
          </a:p>
        </p:txBody>
      </p:sp>
      <p:sp>
        <p:nvSpPr>
          <p:cNvPr id="8" name="Oval 7"/>
          <p:cNvSpPr/>
          <p:nvPr/>
        </p:nvSpPr>
        <p:spPr>
          <a:xfrm>
            <a:off x="7680960" y="329184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9" name="TextBox 8"/>
          <p:cNvSpPr txBox="1"/>
          <p:nvPr/>
        </p:nvSpPr>
        <p:spPr>
          <a:xfrm>
            <a:off x="8321040" y="3273552"/>
            <a:ext cx="3383280" cy="82296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Append-only audit log</a:t>
            </a:r>
          </a:p>
          <a:p>
            <a:pPr algn="l">
              <a:spcAft>
                <a:spcPts val="0"/>
              </a:spcAft>
            </a:pPr>
            <a:r>
              <a:rPr sz="1300" b="0" i="0">
                <a:solidFill>
                  <a:srgbClr val="5B6B70"/>
                </a:solidFill>
                <a:latin typeface="Calibri"/>
              </a:rPr>
              <a:t>trigger blocks edits; hash chain finds the row</a:t>
            </a:r>
          </a:p>
        </p:txBody>
      </p:sp>
      <p:sp>
        <p:nvSpPr>
          <p:cNvPr id="10" name="Oval 9"/>
          <p:cNvSpPr/>
          <p:nvPr/>
        </p:nvSpPr>
        <p:spPr>
          <a:xfrm>
            <a:off x="7680960" y="4206240"/>
            <a:ext cx="457200" cy="45720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11" name="TextBox 10"/>
          <p:cNvSpPr txBox="1"/>
          <p:nvPr/>
        </p:nvSpPr>
        <p:spPr>
          <a:xfrm>
            <a:off x="8321040" y="4187952"/>
            <a:ext cx="3383280" cy="82296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Least privilege, 3 logins</a:t>
            </a:r>
          </a:p>
          <a:p>
            <a:pPr algn="l">
              <a:spcAft>
                <a:spcPts val="0"/>
              </a:spcAft>
            </a:pPr>
            <a:r>
              <a:rPr sz="1300" b="0" i="0">
                <a:solidFill>
                  <a:srgbClr val="5B6B70"/>
                </a:solidFill>
                <a:latin typeface="Calibri"/>
              </a:rPr>
              <a:t>agents read-only; API holds no owner password</a:t>
            </a:r>
          </a:p>
        </p:txBody>
      </p:sp>
      <p:sp>
        <p:nvSpPr>
          <p:cNvPr id="12" name="TextBox 11"/>
          <p:cNvSpPr txBox="1"/>
          <p:nvPr/>
        </p:nvSpPr>
        <p:spPr>
          <a:xfrm>
            <a:off x="548640" y="5989320"/>
            <a:ext cx="10972800" cy="365760"/>
          </a:xfrm>
          <a:prstGeom prst="rect">
            <a:avLst/>
          </a:prstGeom>
          <a:noFill/>
        </p:spPr>
        <p:txBody>
          <a:bodyPr wrap="square" anchor="t" lIns="0" rIns="0" tIns="0" bIns="0">
            <a:spAutoFit/>
          </a:bodyPr>
          <a:lstStyle/>
          <a:p>
            <a:pPr algn="l">
              <a:spcAft>
                <a:spcPts val="600"/>
              </a:spcAft>
            </a:pPr>
            <a:r>
              <a:rPr sz="1300" b="0" i="0">
                <a:solidFill>
                  <a:srgbClr val="5B6B70"/>
                </a:solidFill>
                <a:latin typeface="Calibri"/>
              </a:rPr>
              <a:t>A test fails if any API route other than /health and sign-in is left unprotected.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Built and tested like a product</a:t>
            </a:r>
          </a:p>
        </p:txBody>
      </p:sp>
      <p:graphicFrame>
        <p:nvGraphicFramePr>
          <p:cNvPr id="3" name="Chart 2"/>
          <p:cNvGraphicFramePr>
            <a:graphicFrameLocks noGrp="1"/>
          </p:cNvGraphicFramePr>
          <p:nvPr/>
        </p:nvGraphicFramePr>
        <p:xfrm>
          <a:off x="548640" y="1463040"/>
          <a:ext cx="6766560" cy="4754880"/>
        </p:xfrm>
        <a:graphic>
          <a:graphicData uri="http://schemas.openxmlformats.org/drawingml/2006/chart">
            <c:chart xmlns:c="http://schemas.openxmlformats.org/drawingml/2006/chart" r:id="rId3"/>
          </a:graphicData>
        </a:graphic>
      </p:graphicFrame>
      <p:sp>
        <p:nvSpPr>
          <p:cNvPr id="4" name="Oval 3"/>
          <p:cNvSpPr/>
          <p:nvPr/>
        </p:nvSpPr>
        <p:spPr>
          <a:xfrm>
            <a:off x="7772400" y="146304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5" name="TextBox 4"/>
          <p:cNvSpPr txBox="1"/>
          <p:nvPr/>
        </p:nvSpPr>
        <p:spPr>
          <a:xfrm>
            <a:off x="8412480" y="1444752"/>
            <a:ext cx="3291840" cy="91440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Docker image</a:t>
            </a:r>
          </a:p>
          <a:p>
            <a:pPr algn="l">
              <a:spcAft>
                <a:spcPts val="0"/>
              </a:spcAft>
            </a:pPr>
            <a:r>
              <a:rPr sz="1300" b="0" i="0">
                <a:solidFill>
                  <a:srgbClr val="5B6B70"/>
                </a:solidFill>
                <a:latin typeface="Calibri"/>
              </a:rPr>
              <a:t>built and running: db, API, dashboard healthy</a:t>
            </a:r>
          </a:p>
        </p:txBody>
      </p:sp>
      <p:sp>
        <p:nvSpPr>
          <p:cNvPr id="6" name="Oval 5"/>
          <p:cNvSpPr/>
          <p:nvPr/>
        </p:nvSpPr>
        <p:spPr>
          <a:xfrm>
            <a:off x="7772400" y="251460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7" name="TextBox 6"/>
          <p:cNvSpPr txBox="1"/>
          <p:nvPr/>
        </p:nvSpPr>
        <p:spPr>
          <a:xfrm>
            <a:off x="8412480" y="2496312"/>
            <a:ext cx="3291840" cy="91440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Non-root, 127.0.0.1</a:t>
            </a:r>
          </a:p>
          <a:p>
            <a:pPr algn="l">
              <a:spcAft>
                <a:spcPts val="0"/>
              </a:spcAft>
            </a:pPr>
            <a:r>
              <a:rPr sz="1300" b="0" i="0">
                <a:solidFill>
                  <a:srgbClr val="5B6B70"/>
                </a:solidFill>
                <a:latin typeface="Calibri"/>
              </a:rPr>
              <a:t>uid 10001; nothing reachable from the network</a:t>
            </a:r>
          </a:p>
        </p:txBody>
      </p:sp>
      <p:sp>
        <p:nvSpPr>
          <p:cNvPr id="8" name="Oval 7"/>
          <p:cNvSpPr/>
          <p:nvPr/>
        </p:nvSpPr>
        <p:spPr>
          <a:xfrm>
            <a:off x="7772400" y="3566160"/>
            <a:ext cx="457200" cy="457200"/>
          </a:xfrm>
          <a:prstGeom prst="ellipse">
            <a:avLst/>
          </a:prstGeom>
          <a:solidFill>
            <a:srgbClr val="1E8E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9" name="TextBox 8"/>
          <p:cNvSpPr txBox="1"/>
          <p:nvPr/>
        </p:nvSpPr>
        <p:spPr>
          <a:xfrm>
            <a:off x="8412480" y="3547872"/>
            <a:ext cx="3291840" cy="91440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Real services in tests</a:t>
            </a:r>
          </a:p>
          <a:p>
            <a:pPr algn="l">
              <a:spcAft>
                <a:spcPts val="0"/>
              </a:spcAft>
            </a:pPr>
            <a:r>
              <a:rPr sz="1300" b="0" i="0">
                <a:solidFill>
                  <a:srgbClr val="5B6B70"/>
                </a:solidFill>
                <a:latin typeface="Calibri"/>
              </a:rPr>
              <a:t>PostgreSQL and the local LLM, not only mocks</a:t>
            </a:r>
          </a:p>
        </p:txBody>
      </p:sp>
      <p:sp>
        <p:nvSpPr>
          <p:cNvPr id="10" name="Oval 9"/>
          <p:cNvSpPr/>
          <p:nvPr/>
        </p:nvSpPr>
        <p:spPr>
          <a:xfrm>
            <a:off x="7772400" y="461772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11" name="TextBox 10"/>
          <p:cNvSpPr txBox="1"/>
          <p:nvPr/>
        </p:nvSpPr>
        <p:spPr>
          <a:xfrm>
            <a:off x="8412480" y="4599432"/>
            <a:ext cx="3291840" cy="914400"/>
          </a:xfrm>
          <a:prstGeom prst="rect">
            <a:avLst/>
          </a:prstGeom>
          <a:noFill/>
        </p:spPr>
        <p:txBody>
          <a:bodyPr wrap="square" anchor="t" lIns="0" rIns="0" tIns="0" bIns="0">
            <a:spAutoFit/>
          </a:bodyPr>
          <a:lstStyle/>
          <a:p>
            <a:pPr algn="l">
              <a:spcAft>
                <a:spcPts val="0"/>
              </a:spcAft>
            </a:pPr>
            <a:r>
              <a:rPr sz="1600" b="1" i="0">
                <a:solidFill>
                  <a:srgbClr val="1C2B30"/>
                </a:solidFill>
                <a:latin typeface="Calibri"/>
              </a:rPr>
              <a:t>GitHub Actions: written</a:t>
            </a:r>
          </a:p>
          <a:p>
            <a:pPr algn="l">
              <a:spcAft>
                <a:spcPts val="0"/>
              </a:spcAft>
            </a:pPr>
            <a:r>
              <a:rPr sz="1300" b="0" i="0">
                <a:solidFill>
                  <a:srgbClr val="5B6B70"/>
                </a:solidFill>
                <a:latin typeface="Calibri"/>
              </a:rPr>
              <a:t>tests, Docker end to end, dependency audit; not yet run on GitHub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411480"/>
            <a:ext cx="11094415" cy="822960"/>
          </a:xfrm>
        </p:spPr>
        <p:txBody>
          <a:bodyPr wrap="square" anchor="ctr" lIns="0" rIns="0"/>
          <a:lstStyle/>
          <a:p>
            <a:pPr algn="l"/>
            <a:r>
              <a:rPr sz="3600" b="1" i="0">
                <a:solidFill>
                  <a:srgbClr val="0F2E35"/>
                </a:solidFill>
                <a:latin typeface="Cambria"/>
              </a:rPr>
              <a:t>Honest limits and what comes next</a:t>
            </a:r>
          </a:p>
        </p:txBody>
      </p:sp>
      <p:sp>
        <p:nvSpPr>
          <p:cNvPr id="3" name="Rounded Rectangle 2"/>
          <p:cNvSpPr/>
          <p:nvPr/>
        </p:nvSpPr>
        <p:spPr>
          <a:xfrm>
            <a:off x="548640" y="1463040"/>
            <a:ext cx="5394960" cy="3749039"/>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737360"/>
            <a:ext cx="502920" cy="502920"/>
          </a:xfrm>
          <a:prstGeom prst="ellipse">
            <a:avLst/>
          </a:prstGeom>
          <a:solidFill>
            <a:srgbClr val="0F2E3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5" name="TextBox 4"/>
          <p:cNvSpPr txBox="1"/>
          <p:nvPr/>
        </p:nvSpPr>
        <p:spPr>
          <a:xfrm>
            <a:off x="1508760" y="1783080"/>
            <a:ext cx="4206240" cy="457200"/>
          </a:xfrm>
          <a:prstGeom prst="rect">
            <a:avLst/>
          </a:prstGeom>
          <a:noFill/>
        </p:spPr>
        <p:txBody>
          <a:bodyPr wrap="square" anchor="t" lIns="0" rIns="0" tIns="0" bIns="0">
            <a:spAutoFit/>
          </a:bodyPr>
          <a:lstStyle/>
          <a:p>
            <a:pPr algn="l">
              <a:spcAft>
                <a:spcPts val="600"/>
              </a:spcAft>
            </a:pPr>
            <a:r>
              <a:rPr sz="2000" b="1" i="0">
                <a:solidFill>
                  <a:srgbClr val="1C2B30"/>
                </a:solidFill>
                <a:latin typeface="Calibri"/>
              </a:rPr>
              <a:t>Limits today</a:t>
            </a:r>
          </a:p>
        </p:txBody>
      </p:sp>
      <p:sp>
        <p:nvSpPr>
          <p:cNvPr id="6" name="TextBox 5"/>
          <p:cNvSpPr txBox="1"/>
          <p:nvPr/>
        </p:nvSpPr>
        <p:spPr>
          <a:xfrm>
            <a:off x="914400" y="2560320"/>
            <a:ext cx="4663440" cy="3383280"/>
          </a:xfrm>
          <a:prstGeom prst="rect">
            <a:avLst/>
          </a:prstGeom>
          <a:noFill/>
        </p:spPr>
        <p:txBody>
          <a:bodyPr wrap="square" anchor="t" lIns="0" rIns="0" tIns="0" bIns="0">
            <a:spAutoFit/>
          </a:bodyPr>
          <a:lstStyle/>
          <a:p>
            <a:pPr algn="l" marL="228600" indent="-228600">
              <a:spcAft>
                <a:spcPts val="800"/>
              </a:spcAft>
              <a:buChar char="•"/>
            </a:pPr>
            <a:r>
              <a:rPr sz="1600" b="0" i="0">
                <a:solidFill>
                  <a:srgbClr val="1C2B30"/>
                </a:solidFill>
                <a:latin typeface="Calibri"/>
              </a:rPr>
              <a:t>Synthetic data: cleaner incidents than real life</a:t>
            </a:r>
          </a:p>
          <a:p>
            <a:pPr algn="l" marL="228600" indent="-228600">
              <a:spcAft>
                <a:spcPts val="800"/>
              </a:spcAft>
              <a:buChar char="•"/>
            </a:pPr>
            <a:r>
              <a:rPr sz="1600" b="0" i="0">
                <a:solidFill>
                  <a:srgbClr val="1C2B30"/>
                </a:solidFill>
                <a:latin typeface="Calibri"/>
              </a:rPr>
              <a:t>LLM evaluated on 10 questions: indicative only</a:t>
            </a:r>
          </a:p>
          <a:p>
            <a:pPr algn="l" marL="228600" indent="-228600">
              <a:spcAft>
                <a:spcPts val="800"/>
              </a:spcAft>
              <a:buChar char="•"/>
            </a:pPr>
            <a:r>
              <a:rPr sz="1600" b="0" i="0">
                <a:solidFill>
                  <a:srgbClr val="1C2B30"/>
                </a:solidFill>
                <a:latin typeface="Calibri"/>
              </a:rPr>
              <a:t>Right numbers, wrong meaning: not caught by checks</a:t>
            </a:r>
          </a:p>
          <a:p>
            <a:pPr algn="l" marL="228600" indent="-228600">
              <a:spcAft>
                <a:spcPts val="800"/>
              </a:spcAft>
              <a:buChar char="•"/>
            </a:pPr>
            <a:r>
              <a:rPr sz="1600" b="0" i="0">
                <a:solidFill>
                  <a:srgbClr val="1C2B30"/>
                </a:solidFill>
                <a:latin typeface="Calibri"/>
              </a:rPr>
              <a:t>Unknown provider names are not flagged to the user</a:t>
            </a:r>
          </a:p>
          <a:p>
            <a:pPr algn="l" marL="228600" indent="-228600">
              <a:spcAft>
                <a:spcPts val="800"/>
              </a:spcAft>
              <a:buChar char="•"/>
            </a:pPr>
            <a:r>
              <a:rPr sz="1600" b="0" i="0">
                <a:solidFill>
                  <a:srgbClr val="1C2B30"/>
                </a:solidFill>
                <a:latin typeface="Calibri"/>
              </a:rPr>
              <a:t>CI written but not yet run on GitHub</a:t>
            </a:r>
          </a:p>
        </p:txBody>
      </p:sp>
      <p:sp>
        <p:nvSpPr>
          <p:cNvPr id="7" name="Rounded Rectangle 6"/>
          <p:cNvSpPr/>
          <p:nvPr/>
        </p:nvSpPr>
        <p:spPr>
          <a:xfrm>
            <a:off x="6245352" y="1463040"/>
            <a:ext cx="5394960" cy="3749039"/>
          </a:xfrm>
          <a:prstGeom prst="roundRect">
            <a:avLst>
              <a:gd name="adj" fmla="val 8000"/>
            </a:avLst>
          </a:prstGeom>
          <a:solidFill>
            <a:srgbClr val="EE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6519672" y="1737360"/>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a:t>
            </a:r>
          </a:p>
        </p:txBody>
      </p:sp>
      <p:sp>
        <p:nvSpPr>
          <p:cNvPr id="9" name="TextBox 8"/>
          <p:cNvSpPr txBox="1"/>
          <p:nvPr/>
        </p:nvSpPr>
        <p:spPr>
          <a:xfrm>
            <a:off x="7205472" y="1783080"/>
            <a:ext cx="4206240" cy="457200"/>
          </a:xfrm>
          <a:prstGeom prst="rect">
            <a:avLst/>
          </a:prstGeom>
          <a:noFill/>
        </p:spPr>
        <p:txBody>
          <a:bodyPr wrap="square" anchor="t" lIns="0" rIns="0" tIns="0" bIns="0">
            <a:spAutoFit/>
          </a:bodyPr>
          <a:lstStyle/>
          <a:p>
            <a:pPr algn="l">
              <a:spcAft>
                <a:spcPts val="600"/>
              </a:spcAft>
            </a:pPr>
            <a:r>
              <a:rPr sz="2000" b="1" i="0">
                <a:solidFill>
                  <a:srgbClr val="1C2B30"/>
                </a:solidFill>
                <a:latin typeface="Calibri"/>
              </a:rPr>
              <a:t>Next steps</a:t>
            </a:r>
          </a:p>
        </p:txBody>
      </p:sp>
      <p:sp>
        <p:nvSpPr>
          <p:cNvPr id="10" name="TextBox 9"/>
          <p:cNvSpPr txBox="1"/>
          <p:nvPr/>
        </p:nvSpPr>
        <p:spPr>
          <a:xfrm>
            <a:off x="6611112" y="2560320"/>
            <a:ext cx="4663440" cy="3383280"/>
          </a:xfrm>
          <a:prstGeom prst="rect">
            <a:avLst/>
          </a:prstGeom>
          <a:noFill/>
        </p:spPr>
        <p:txBody>
          <a:bodyPr wrap="square" anchor="t" lIns="0" rIns="0" tIns="0" bIns="0">
            <a:spAutoFit/>
          </a:bodyPr>
          <a:lstStyle/>
          <a:p>
            <a:pPr algn="l" marL="228600" indent="-228600">
              <a:spcAft>
                <a:spcPts val="800"/>
              </a:spcAft>
              <a:buChar char="•"/>
            </a:pPr>
            <a:r>
              <a:rPr sz="1600" b="0" i="0">
                <a:solidFill>
                  <a:srgbClr val="1C2B30"/>
                </a:solidFill>
                <a:latin typeface="Calibri"/>
              </a:rPr>
              <a:t>qwen3:8b / 14b on the RTX 5070 Ti, same evaluation</a:t>
            </a:r>
          </a:p>
          <a:p>
            <a:pPr algn="l" marL="228600" indent="-228600">
              <a:spcAft>
                <a:spcPts val="800"/>
              </a:spcAft>
              <a:buChar char="•"/>
            </a:pPr>
            <a:r>
              <a:rPr sz="1600" b="0" i="0">
                <a:solidFill>
                  <a:srgbClr val="1C2B30"/>
                </a:solidFill>
                <a:latin typeface="Calibri"/>
              </a:rPr>
              <a:t>Human review of a sample of reports</a:t>
            </a:r>
          </a:p>
          <a:p>
            <a:pPr algn="l" marL="228600" indent="-228600">
              <a:spcAft>
                <a:spcPts val="800"/>
              </a:spcAft>
              <a:buChar char="•"/>
            </a:pPr>
            <a:r>
              <a:rPr sz="1600" b="0" i="0">
                <a:solidFill>
                  <a:srgbClr val="1C2B30"/>
                </a:solidFill>
                <a:latin typeface="Calibri"/>
              </a:rPr>
              <a:t>Per-provider data scoping for analyst accounts</a:t>
            </a:r>
          </a:p>
          <a:p>
            <a:pPr algn="l" marL="228600" indent="-228600">
              <a:spcAft>
                <a:spcPts val="800"/>
              </a:spcAft>
              <a:buChar char="•"/>
            </a:pPr>
            <a:r>
              <a:rPr sz="1600" b="0" i="0">
                <a:solidFill>
                  <a:srgbClr val="1C2B30"/>
                </a:solidFill>
                <a:latin typeface="Calibri"/>
              </a:rPr>
              <a:t>Flag names in questions that match no provider</a:t>
            </a:r>
          </a:p>
          <a:p>
            <a:pPr algn="l" marL="228600" indent="-228600">
              <a:spcAft>
                <a:spcPts val="800"/>
              </a:spcAft>
              <a:buChar char="•"/>
            </a:pPr>
            <a:r>
              <a:rPr sz="1600" b="0" i="0">
                <a:solidFill>
                  <a:srgbClr val="1C2B30"/>
                </a:solidFill>
                <a:latin typeface="Calibri"/>
              </a:rPr>
              <a:t>Push to GitHub and get the three CI jobs green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2E35"/>
        </a:solidFill>
        <a:effectLst/>
      </p:bgPr>
    </p:bg>
    <p:spTree>
      <p:nvGrpSpPr>
        <p:cNvPr id="1" name=""/>
        <p:cNvGrpSpPr/>
        <p:nvPr/>
      </p:nvGrpSpPr>
      <p:grpSpPr/>
      <p:sp>
        <p:nvSpPr>
          <p:cNvPr id="2" name="Title 1"/>
          <p:cNvSpPr>
            <a:spLocks noGrp="1"/>
          </p:cNvSpPr>
          <p:nvPr>
            <p:ph type="title"/>
          </p:nvPr>
        </p:nvSpPr>
        <p:spPr>
          <a:xfrm>
            <a:off x="548640" y="914400"/>
            <a:ext cx="11094415" cy="822960"/>
          </a:xfrm>
        </p:spPr>
        <p:txBody>
          <a:bodyPr wrap="square" anchor="ctr" lIns="0" rIns="0"/>
          <a:lstStyle/>
          <a:p>
            <a:pPr algn="l"/>
            <a:r>
              <a:rPr sz="3600" b="1" i="0">
                <a:solidFill>
                  <a:srgbClr val="FFFFFF"/>
                </a:solidFill>
                <a:latin typeface="Cambria"/>
              </a:rPr>
              <a:t>Demo</a:t>
            </a:r>
          </a:p>
        </p:txBody>
      </p:sp>
      <p:sp>
        <p:nvSpPr>
          <p:cNvPr id="3" name="Oval 2"/>
          <p:cNvSpPr/>
          <p:nvPr/>
        </p:nvSpPr>
        <p:spPr>
          <a:xfrm>
            <a:off x="548640" y="2103120"/>
            <a:ext cx="548640" cy="548640"/>
          </a:xfrm>
          <a:prstGeom prst="ellipse">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a:t>
            </a:r>
          </a:p>
        </p:txBody>
      </p:sp>
      <p:sp>
        <p:nvSpPr>
          <p:cNvPr id="4" name="TextBox 3"/>
          <p:cNvSpPr txBox="1"/>
          <p:nvPr/>
        </p:nvSpPr>
        <p:spPr>
          <a:xfrm>
            <a:off x="1325880" y="2084832"/>
            <a:ext cx="6858000" cy="822960"/>
          </a:xfrm>
          <a:prstGeom prst="rect">
            <a:avLst/>
          </a:prstGeom>
          <a:noFill/>
        </p:spPr>
        <p:txBody>
          <a:bodyPr wrap="square" anchor="t" lIns="0" rIns="0" tIns="0" bIns="0">
            <a:spAutoFit/>
          </a:bodyPr>
          <a:lstStyle/>
          <a:p>
            <a:pPr algn="l">
              <a:spcAft>
                <a:spcPts val="0"/>
              </a:spcAft>
            </a:pPr>
            <a:r>
              <a:rPr sz="2000" b="1" i="0">
                <a:solidFill>
                  <a:srgbClr val="FFFFFF"/>
                </a:solidFill>
                <a:latin typeface="Calibri"/>
              </a:rPr>
              <a:t>Sign in as an analyst</a:t>
            </a:r>
          </a:p>
          <a:p>
            <a:pPr algn="l">
              <a:spcAft>
                <a:spcPts val="0"/>
              </a:spcAft>
            </a:pPr>
            <a:r>
              <a:rPr sz="1500" b="0" i="0">
                <a:solidFill>
                  <a:srgbClr val="BFD7DC"/>
                </a:solidFill>
                <a:latin typeface="Calibri"/>
              </a:rPr>
              <a:t>ana (README) · Investigate tab</a:t>
            </a:r>
          </a:p>
        </p:txBody>
      </p:sp>
      <p:sp>
        <p:nvSpPr>
          <p:cNvPr id="5" name="Oval 4"/>
          <p:cNvSpPr/>
          <p:nvPr/>
        </p:nvSpPr>
        <p:spPr>
          <a:xfrm>
            <a:off x="548640" y="3063240"/>
            <a:ext cx="548640" cy="54864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a:t>
            </a:r>
          </a:p>
        </p:txBody>
      </p:sp>
      <p:sp>
        <p:nvSpPr>
          <p:cNvPr id="6" name="TextBox 5"/>
          <p:cNvSpPr txBox="1"/>
          <p:nvPr/>
        </p:nvSpPr>
        <p:spPr>
          <a:xfrm>
            <a:off x="1325880" y="3044952"/>
            <a:ext cx="6858000" cy="822960"/>
          </a:xfrm>
          <a:prstGeom prst="rect">
            <a:avLst/>
          </a:prstGeom>
          <a:noFill/>
        </p:spPr>
        <p:txBody>
          <a:bodyPr wrap="square" anchor="t" lIns="0" rIns="0" tIns="0" bIns="0">
            <a:spAutoFit/>
          </a:bodyPr>
          <a:lstStyle/>
          <a:p>
            <a:pPr algn="l">
              <a:spcAft>
                <a:spcPts val="0"/>
              </a:spcAft>
            </a:pPr>
            <a:r>
              <a:rPr sz="2000" b="1" i="0">
                <a:solidFill>
                  <a:srgbClr val="FFFFFF"/>
                </a:solidFill>
                <a:latin typeface="Calibri"/>
              </a:rPr>
              <a:t>Ask about Kestrel, week of 21 Sep</a:t>
            </a:r>
          </a:p>
          <a:p>
            <a:pPr algn="l">
              <a:spcAft>
                <a:spcPts val="0"/>
              </a:spcAft>
            </a:pPr>
            <a:r>
              <a:rPr sz="1500" b="0" i="0">
                <a:solidFill>
                  <a:srgbClr val="BFD7DC"/>
                </a:solidFill>
                <a:latin typeface="Calibri"/>
              </a:rPr>
              <a:t>watch six agents work, ~20–30 s</a:t>
            </a:r>
          </a:p>
        </p:txBody>
      </p:sp>
      <p:sp>
        <p:nvSpPr>
          <p:cNvPr id="7" name="Oval 6"/>
          <p:cNvSpPr/>
          <p:nvPr/>
        </p:nvSpPr>
        <p:spPr>
          <a:xfrm>
            <a:off x="548640" y="4023360"/>
            <a:ext cx="548640" cy="548640"/>
          </a:xfrm>
          <a:prstGeom prst="ellipse">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3</a:t>
            </a:r>
          </a:p>
        </p:txBody>
      </p:sp>
      <p:sp>
        <p:nvSpPr>
          <p:cNvPr id="8" name="TextBox 7"/>
          <p:cNvSpPr txBox="1"/>
          <p:nvPr/>
        </p:nvSpPr>
        <p:spPr>
          <a:xfrm>
            <a:off x="1325880" y="4005072"/>
            <a:ext cx="6858000" cy="822960"/>
          </a:xfrm>
          <a:prstGeom prst="rect">
            <a:avLst/>
          </a:prstGeom>
          <a:noFill/>
        </p:spPr>
        <p:txBody>
          <a:bodyPr wrap="square" anchor="t" lIns="0" rIns="0" tIns="0" bIns="0">
            <a:spAutoFit/>
          </a:bodyPr>
          <a:lstStyle/>
          <a:p>
            <a:pPr algn="l">
              <a:spcAft>
                <a:spcPts val="0"/>
              </a:spcAft>
            </a:pPr>
            <a:r>
              <a:rPr sz="2000" b="1" i="0">
                <a:solidFill>
                  <a:srgbClr val="FFFFFF"/>
                </a:solidFill>
                <a:latin typeface="Calibri"/>
              </a:rPr>
              <a:t>Open verification and evidence</a:t>
            </a:r>
          </a:p>
          <a:p>
            <a:pPr algn="l">
              <a:spcAft>
                <a:spcPts val="0"/>
              </a:spcAft>
            </a:pPr>
            <a:r>
              <a:rPr sz="1500" b="0" i="0">
                <a:solidFill>
                  <a:srgbClr val="BFD7DC"/>
                </a:solidFill>
                <a:latin typeface="Calibri"/>
              </a:rPr>
              <a:t>every sentence cites its findings</a:t>
            </a:r>
          </a:p>
        </p:txBody>
      </p:sp>
      <p:sp>
        <p:nvSpPr>
          <p:cNvPr id="9" name="Oval 8"/>
          <p:cNvSpPr/>
          <p:nvPr/>
        </p:nvSpPr>
        <p:spPr>
          <a:xfrm>
            <a:off x="548640" y="4983480"/>
            <a:ext cx="548640" cy="548640"/>
          </a:xfrm>
          <a:prstGeom prst="ellipse">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4</a:t>
            </a:r>
          </a:p>
        </p:txBody>
      </p:sp>
      <p:sp>
        <p:nvSpPr>
          <p:cNvPr id="10" name="TextBox 9"/>
          <p:cNvSpPr txBox="1"/>
          <p:nvPr/>
        </p:nvSpPr>
        <p:spPr>
          <a:xfrm>
            <a:off x="1325880" y="4965192"/>
            <a:ext cx="6858000" cy="822960"/>
          </a:xfrm>
          <a:prstGeom prst="rect">
            <a:avLst/>
          </a:prstGeom>
          <a:noFill/>
        </p:spPr>
        <p:txBody>
          <a:bodyPr wrap="square" anchor="t" lIns="0" rIns="0" tIns="0" bIns="0">
            <a:spAutoFit/>
          </a:bodyPr>
          <a:lstStyle/>
          <a:p>
            <a:pPr algn="l">
              <a:spcAft>
                <a:spcPts val="0"/>
              </a:spcAft>
            </a:pPr>
            <a:r>
              <a:rPr sz="2000" b="1" i="0">
                <a:solidFill>
                  <a:srgbClr val="FFFFFF"/>
                </a:solidFill>
                <a:latin typeface="Calibri"/>
              </a:rPr>
              <a:t>Sign in as admin</a:t>
            </a:r>
          </a:p>
          <a:p>
            <a:pPr algn="l">
              <a:spcAft>
                <a:spcPts val="0"/>
              </a:spcAft>
            </a:pPr>
            <a:r>
              <a:rPr sz="1500" b="0" i="0">
                <a:solidFill>
                  <a:srgbClr val="BFD7DC"/>
                </a:solidFill>
                <a:latin typeface="Calibri"/>
              </a:rPr>
              <a:t>no Investigate tab · verify the audit chain</a:t>
            </a:r>
          </a:p>
        </p:txBody>
      </p:sp>
      <p:sp>
        <p:nvSpPr>
          <p:cNvPr id="11" name="Rounded Rectangle 10"/>
          <p:cNvSpPr/>
          <p:nvPr/>
        </p:nvSpPr>
        <p:spPr>
          <a:xfrm>
            <a:off x="7589520" y="2103120"/>
            <a:ext cx="4050791" cy="2743200"/>
          </a:xfrm>
          <a:prstGeom prst="roundRect">
            <a:avLst>
              <a:gd name="adj" fmla="val 8000"/>
            </a:avLst>
          </a:prstGeom>
          <a:solidFill>
            <a:srgbClr val="1E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0" y="2331720"/>
            <a:ext cx="3566160" cy="2377440"/>
          </a:xfrm>
          <a:prstGeom prst="rect">
            <a:avLst/>
          </a:prstGeom>
          <a:noFill/>
        </p:spPr>
        <p:txBody>
          <a:bodyPr wrap="square" anchor="t" lIns="0" rIns="0" tIns="0" bIns="0">
            <a:spAutoFit/>
          </a:bodyPr>
          <a:lstStyle/>
          <a:p>
            <a:pPr algn="l">
              <a:spcAft>
                <a:spcPts val="1000"/>
              </a:spcAft>
            </a:pPr>
            <a:r>
              <a:rPr sz="1700" b="1" i="0">
                <a:solidFill>
                  <a:srgbClr val="FFFFFF"/>
                </a:solidFill>
                <a:latin typeface="Calibri"/>
              </a:rPr>
              <a:t>Run it yourself</a:t>
            </a:r>
          </a:p>
          <a:p>
            <a:pPr algn="l">
              <a:spcAft>
                <a:spcPts val="1000"/>
              </a:spcAft>
            </a:pPr>
            <a:r>
              <a:rPr sz="1200" b="0" i="0">
                <a:solidFill>
                  <a:srgbClr val="BFD7DC"/>
                </a:solidFill>
                <a:latin typeface="Courier New"/>
              </a:rPr>
              <a:t>docker compose --profile app up -d</a:t>
            </a:r>
          </a:p>
          <a:p>
            <a:pPr algn="l">
              <a:spcAft>
                <a:spcPts val="1000"/>
              </a:spcAft>
            </a:pPr>
            <a:r>
              <a:rPr sz="1200" b="0" i="0">
                <a:solidFill>
                  <a:srgbClr val="BFD7DC"/>
                </a:solidFill>
                <a:latin typeface="Courier New"/>
              </a:rPr>
              <a:t>http://127.0.0.1:8501</a:t>
            </a:r>
          </a:p>
          <a:p>
            <a:pPr algn="l">
              <a:spcAft>
                <a:spcPts val="1000"/>
              </a:spcAft>
            </a:pPr>
            <a:r>
              <a:rPr sz="1400" b="0" i="0">
                <a:solidFill>
                  <a:srgbClr val="BFD7DC"/>
                </a:solidFill>
                <a:latin typeface="Calibri"/>
              </a:rPr>
              <a:t>Setup: README.md</a:t>
            </a:r>
          </a:p>
          <a:p>
            <a:pPr algn="l">
              <a:spcAft>
                <a:spcPts val="1000"/>
              </a:spcAft>
            </a:pPr>
            <a:r>
              <a:rPr sz="1400" b="0" i="0">
                <a:solidFill>
                  <a:srgbClr val="BFD7DC"/>
                </a:solidFill>
                <a:latin typeface="Calibri"/>
              </a:rPr>
              <a:t>docs/demo_script.md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Payment Operations Intelligence</dc:title>
  <dc:subject>A local, multi-agent AI system for investigating payment failures</dc:subject>
  <dc:creator>Payment Operations Intelligence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